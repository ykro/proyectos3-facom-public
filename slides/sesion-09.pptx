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6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11480" cy="6858000"/>
          </a:xfrm>
          <a:prstGeom prst="rect">
            <a:avLst/>
          </a:prstGeom>
          <a:solidFill>
            <a:srgbClr val="6D2E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11480" y="0"/>
            <a:ext cx="109728" cy="6858000"/>
          </a:xfrm>
          <a:prstGeom prst="rect">
            <a:avLst/>
          </a:prstGeom>
          <a:solidFill>
            <a:srgbClr val="E3B2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1234440"/>
            <a:ext cx="1042416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1">
                <a:solidFill>
                  <a:srgbClr val="C84B31"/>
                </a:solidFill>
                <a:latin typeface="Calibri"/>
              </a:rPr>
              <a:t>SESIÓN 09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0120" y="1874519"/>
            <a:ext cx="10607040" cy="23774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5200" b="1">
                <a:solidFill>
                  <a:srgbClr val="6D2E46"/>
                </a:solidFill>
                <a:latin typeface="Calibri"/>
              </a:rPr>
              <a:t>Portafolio, pitch y empleabilidad</a:t>
            </a:r>
          </a:p>
        </p:txBody>
      </p:sp>
      <p:sp>
        <p:nvSpPr>
          <p:cNvPr id="6" name="Rectangle 5"/>
          <p:cNvSpPr/>
          <p:nvPr/>
        </p:nvSpPr>
        <p:spPr>
          <a:xfrm>
            <a:off x="1024128" y="4343400"/>
            <a:ext cx="2194560" cy="82296"/>
          </a:xfrm>
          <a:prstGeom prst="rect">
            <a:avLst/>
          </a:prstGeom>
          <a:solidFill>
            <a:srgbClr val="E3B2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4663440"/>
            <a:ext cx="104241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300" b="1">
                <a:solidFill>
                  <a:srgbClr val="2B2B2B"/>
                </a:solidFill>
                <a:latin typeface="Calibri"/>
              </a:rPr>
              <a:t>Proyectos III — Diseño de aplicaciones móviles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5212080"/>
            <a:ext cx="1042416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8A7C70"/>
                </a:solidFill>
                <a:latin typeface="Calibri"/>
              </a:rPr>
              <a:t>Licenciatura en Comunicación y Diseño · Universidad Galileo · Docente: Adrián Catalán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6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C84B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45720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>
                <a:solidFill>
                  <a:srgbClr val="C84B31"/>
                </a:solidFill>
                <a:latin typeface="Calibri"/>
              </a:rPr>
              <a:t>SESIÓN DE HOY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914400"/>
            <a:ext cx="1060704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800" b="1">
                <a:solidFill>
                  <a:srgbClr val="6D2E46"/>
                </a:solidFill>
                <a:latin typeface="Calibri"/>
              </a:rPr>
              <a:t>Agenda</a:t>
            </a:r>
          </a:p>
        </p:txBody>
      </p:sp>
      <p:sp>
        <p:nvSpPr>
          <p:cNvPr id="5" name="Rectangle 4"/>
          <p:cNvSpPr/>
          <p:nvPr/>
        </p:nvSpPr>
        <p:spPr>
          <a:xfrm>
            <a:off x="868680" y="1783080"/>
            <a:ext cx="1554480" cy="64008"/>
          </a:xfrm>
          <a:prstGeom prst="rect">
            <a:avLst/>
          </a:prstGeom>
          <a:solidFill>
            <a:srgbClr val="E3B2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96112" y="2148840"/>
            <a:ext cx="104241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600">
                <a:solidFill>
                  <a:srgbClr val="2B2B2B"/>
                </a:solidFill>
                <a:latin typeface="Calibri"/>
              </a:rPr>
              <a:t>●  Marco de la sesión</a:t>
            </a:r>
          </a:p>
          <a:p>
            <a:pPr>
              <a:spcAft>
                <a:spcPts val="1600"/>
              </a:spcAft>
            </a:pPr>
            <a:r>
              <a:rPr sz="2600">
                <a:solidFill>
                  <a:srgbClr val="2B2B2B"/>
                </a:solidFill>
                <a:latin typeface="Calibri"/>
              </a:rPr>
              <a:t>●  El portafolio del diseñador-creador con IA</a:t>
            </a:r>
          </a:p>
          <a:p>
            <a:pPr>
              <a:spcAft>
                <a:spcPts val="1600"/>
              </a:spcAft>
            </a:pPr>
            <a:r>
              <a:rPr sz="2600">
                <a:solidFill>
                  <a:srgbClr val="2B2B2B"/>
                </a:solidFill>
                <a:latin typeface="Calibri"/>
              </a:rPr>
              <a:t>●  Ética y accesibilidad</a:t>
            </a:r>
          </a:p>
          <a:p>
            <a:pPr>
              <a:spcAft>
                <a:spcPts val="1600"/>
              </a:spcAft>
            </a:pPr>
            <a:r>
              <a:rPr sz="2600">
                <a:solidFill>
                  <a:srgbClr val="2B2B2B"/>
                </a:solidFill>
                <a:latin typeface="Calibri"/>
              </a:rPr>
              <a:t>●  Anatomía de un pitch</a:t>
            </a:r>
          </a:p>
          <a:p>
            <a:pPr>
              <a:spcAft>
                <a:spcPts val="1600"/>
              </a:spcAft>
            </a:pPr>
            <a:r>
              <a:rPr sz="2600">
                <a:solidFill>
                  <a:srgbClr val="2B2B2B"/>
                </a:solidFill>
                <a:latin typeface="Calibri"/>
              </a:rPr>
              <a:t>●  Empleabilidad: los datos</a:t>
            </a:r>
          </a:p>
          <a:p>
            <a:pPr>
              <a:spcAft>
                <a:spcPts val="1600"/>
              </a:spcAft>
            </a:pPr>
            <a:r>
              <a:rPr sz="2600">
                <a:solidFill>
                  <a:srgbClr val="2B2B2B"/>
                </a:solidFill>
                <a:latin typeface="Calibri"/>
              </a:rPr>
              <a:t>●  Mini-taller: portafolio + pitch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6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C84B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45720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>
                <a:solidFill>
                  <a:srgbClr val="C84B31"/>
                </a:solidFill>
                <a:latin typeface="Calibri"/>
              </a:rPr>
              <a:t>MARCO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914400"/>
            <a:ext cx="1060704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800" b="1">
                <a:solidFill>
                  <a:srgbClr val="6D2E46"/>
                </a:solidFill>
                <a:latin typeface="Calibri"/>
              </a:rPr>
              <a:t>Convierte tu proyecto en una pieza de portafolio</a:t>
            </a:r>
          </a:p>
        </p:txBody>
      </p:sp>
      <p:sp>
        <p:nvSpPr>
          <p:cNvPr id="5" name="Rectangle 4"/>
          <p:cNvSpPr/>
          <p:nvPr/>
        </p:nvSpPr>
        <p:spPr>
          <a:xfrm>
            <a:off x="868680" y="1783080"/>
            <a:ext cx="1554480" cy="64008"/>
          </a:xfrm>
          <a:prstGeom prst="rect">
            <a:avLst/>
          </a:prstGeom>
          <a:solidFill>
            <a:srgbClr val="E3B2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96112" y="2103120"/>
            <a:ext cx="105156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500"/>
              </a:spcAft>
            </a:pPr>
            <a:r>
              <a:rPr sz="2300">
                <a:solidFill>
                  <a:srgbClr val="2B2B2B"/>
                </a:solidFill>
                <a:latin typeface="Calibri"/>
              </a:rPr>
              <a:t>•  Tu app es también tu portafolio: doble valor</a:t>
            </a:r>
          </a:p>
          <a:p>
            <a:pPr>
              <a:spcAft>
                <a:spcPts val="1500"/>
              </a:spcAft>
            </a:pPr>
            <a:r>
              <a:rPr sz="2300">
                <a:solidFill>
                  <a:srgbClr val="2B2B2B"/>
                </a:solidFill>
                <a:latin typeface="Calibri"/>
              </a:rPr>
              <a:t>•  Cuenta problema → proceso → resultado</a:t>
            </a:r>
          </a:p>
          <a:p>
            <a:pPr>
              <a:spcAft>
                <a:spcPts val="1500"/>
              </a:spcAft>
            </a:pPr>
            <a:r>
              <a:rPr sz="2300">
                <a:solidFill>
                  <a:srgbClr val="2B2B2B"/>
                </a:solidFill>
                <a:latin typeface="Calibri"/>
              </a:rPr>
              <a:t>•  No solo pantallas bonitas: muestra tu proceso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6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C84B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45720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>
                <a:solidFill>
                  <a:srgbClr val="C84B31"/>
                </a:solidFill>
                <a:latin typeface="Calibri"/>
              </a:rPr>
              <a:t>LO QUE TE HACE DESTACAR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914400"/>
            <a:ext cx="1060704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800" b="1">
                <a:solidFill>
                  <a:srgbClr val="6D2E46"/>
                </a:solidFill>
                <a:latin typeface="Calibri"/>
              </a:rPr>
              <a:t>Tu diferenciador</a:t>
            </a:r>
          </a:p>
        </p:txBody>
      </p:sp>
      <p:sp>
        <p:nvSpPr>
          <p:cNvPr id="5" name="Rectangle 4"/>
          <p:cNvSpPr/>
          <p:nvPr/>
        </p:nvSpPr>
        <p:spPr>
          <a:xfrm>
            <a:off x="868680" y="1783080"/>
            <a:ext cx="1554480" cy="64008"/>
          </a:xfrm>
          <a:prstGeom prst="rect">
            <a:avLst/>
          </a:prstGeom>
          <a:solidFill>
            <a:srgbClr val="E3B2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96112" y="2103120"/>
            <a:ext cx="105156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500"/>
              </a:spcAft>
            </a:pPr>
            <a:r>
              <a:rPr sz="2300">
                <a:solidFill>
                  <a:srgbClr val="2B2B2B"/>
                </a:solidFill>
                <a:latin typeface="Calibri"/>
              </a:rPr>
              <a:t>•  Sabes dirigir a la IA para construir productos reales</a:t>
            </a:r>
          </a:p>
          <a:p>
            <a:pPr>
              <a:spcAft>
                <a:spcPts val="1500"/>
              </a:spcAft>
            </a:pPr>
            <a:r>
              <a:rPr sz="2300">
                <a:solidFill>
                  <a:srgbClr val="2B2B2B"/>
                </a:solidFill>
                <a:latin typeface="Calibri"/>
              </a:rPr>
              <a:t>•  Muestra tu bitácora de prompts y decisiones de diseño</a:t>
            </a:r>
          </a:p>
          <a:p>
            <a:pPr>
              <a:spcAft>
                <a:spcPts val="1500"/>
              </a:spcAft>
            </a:pPr>
            <a:r>
              <a:rPr sz="2300">
                <a:solidFill>
                  <a:srgbClr val="2B2B2B"/>
                </a:solidFill>
                <a:latin typeface="Calibri"/>
              </a:rPr>
              <a:t>•  Es desarrollo de software asistido por IA, no "vibe coding"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6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C84B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45720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>
                <a:solidFill>
                  <a:srgbClr val="C84B31"/>
                </a:solidFill>
                <a:latin typeface="Calibri"/>
              </a:rPr>
              <a:t>PROFESIONALISMO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914400"/>
            <a:ext cx="1060704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800" b="1">
                <a:solidFill>
                  <a:srgbClr val="6D2E46"/>
                </a:solidFill>
                <a:latin typeface="Calibri"/>
              </a:rPr>
              <a:t>Ética y accesibilidad</a:t>
            </a:r>
          </a:p>
        </p:txBody>
      </p:sp>
      <p:sp>
        <p:nvSpPr>
          <p:cNvPr id="5" name="Rectangle 4"/>
          <p:cNvSpPr/>
          <p:nvPr/>
        </p:nvSpPr>
        <p:spPr>
          <a:xfrm>
            <a:off x="868680" y="1783080"/>
            <a:ext cx="1554480" cy="64008"/>
          </a:xfrm>
          <a:prstGeom prst="rect">
            <a:avLst/>
          </a:prstGeom>
          <a:solidFill>
            <a:srgbClr val="E3B2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96112" y="2103120"/>
            <a:ext cx="105156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500"/>
              </a:spcAft>
            </a:pPr>
            <a:r>
              <a:rPr sz="2300">
                <a:solidFill>
                  <a:srgbClr val="2B2B2B"/>
                </a:solidFill>
                <a:latin typeface="Calibri"/>
              </a:rPr>
              <a:t>•  Contraste, tamaños táctiles y lenguaje claro</a:t>
            </a:r>
          </a:p>
          <a:p>
            <a:pPr>
              <a:spcAft>
                <a:spcPts val="1500"/>
              </a:spcAft>
            </a:pPr>
            <a:r>
              <a:rPr sz="2300">
                <a:solidFill>
                  <a:srgbClr val="2B2B2B"/>
                </a:solidFill>
                <a:latin typeface="Calibri"/>
              </a:rPr>
              <a:t>•  Uso responsable de la IA y de imágenes generadas</a:t>
            </a:r>
          </a:p>
          <a:p>
            <a:pPr>
              <a:spcAft>
                <a:spcPts val="1500"/>
              </a:spcAft>
            </a:pPr>
            <a:r>
              <a:rPr sz="2300">
                <a:solidFill>
                  <a:srgbClr val="2B2B2B"/>
                </a:solidFill>
                <a:latin typeface="Calibri"/>
              </a:rPr>
              <a:t>•  Parte de presentarte como profesional serio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6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C84B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45720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>
                <a:solidFill>
                  <a:srgbClr val="C84B31"/>
                </a:solidFill>
                <a:latin typeface="Calibri"/>
              </a:rPr>
              <a:t>CÓMO PRESENTAR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914400"/>
            <a:ext cx="1060704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800" b="1">
                <a:solidFill>
                  <a:srgbClr val="6D2E46"/>
                </a:solidFill>
                <a:latin typeface="Calibri"/>
              </a:rPr>
              <a:t>Anatomía de un pitch (2–3 min)</a:t>
            </a:r>
          </a:p>
        </p:txBody>
      </p:sp>
      <p:sp>
        <p:nvSpPr>
          <p:cNvPr id="5" name="Rectangle 4"/>
          <p:cNvSpPr/>
          <p:nvPr/>
        </p:nvSpPr>
        <p:spPr>
          <a:xfrm>
            <a:off x="868680" y="1783080"/>
            <a:ext cx="1554480" cy="64008"/>
          </a:xfrm>
          <a:prstGeom prst="rect">
            <a:avLst/>
          </a:prstGeom>
          <a:solidFill>
            <a:srgbClr val="E3B2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96112" y="2103120"/>
            <a:ext cx="105156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500"/>
              </a:spcAft>
            </a:pPr>
            <a:r>
              <a:rPr sz="2300">
                <a:solidFill>
                  <a:srgbClr val="2B2B2B"/>
                </a:solidFill>
                <a:latin typeface="Calibri"/>
              </a:rPr>
              <a:t>•  Gancho: qué es y para quién, en una frase</a:t>
            </a:r>
          </a:p>
          <a:p>
            <a:pPr>
              <a:spcAft>
                <a:spcPts val="1500"/>
              </a:spcAft>
            </a:pPr>
            <a:r>
              <a:rPr sz="2300">
                <a:solidFill>
                  <a:srgbClr val="2B2B2B"/>
                </a:solidFill>
                <a:latin typeface="Calibri"/>
              </a:rPr>
              <a:t>•  Demo en vivo: login, bitácora, agregar entrada con cámara</a:t>
            </a:r>
          </a:p>
          <a:p>
            <a:pPr>
              <a:spcAft>
                <a:spcPts val="1500"/>
              </a:spcAft>
            </a:pPr>
            <a:r>
              <a:rPr sz="2300">
                <a:solidFill>
                  <a:srgbClr val="2B2B2B"/>
                </a:solidFill>
                <a:latin typeface="Calibri"/>
              </a:rPr>
              <a:t>•  Proceso: cómo lo dirigiste con IA, una decisión clave</a:t>
            </a:r>
          </a:p>
          <a:p>
            <a:pPr>
              <a:spcAft>
                <a:spcPts val="1500"/>
              </a:spcAft>
            </a:pPr>
            <a:r>
              <a:rPr sz="2300">
                <a:solidFill>
                  <a:srgbClr val="2B2B2B"/>
                </a:solidFill>
                <a:latin typeface="Calibri"/>
              </a:rPr>
              <a:t>•  Cierre: por qué representa tu trabajo creativo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6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3A6B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45720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>
                <a:solidFill>
                  <a:srgbClr val="C84B31"/>
                </a:solidFill>
                <a:latin typeface="Calibri"/>
              </a:rPr>
              <a:t>EMPLEABILIDAD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914400"/>
            <a:ext cx="1060704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800" b="1">
                <a:solidFill>
                  <a:srgbClr val="6D2E46"/>
                </a:solidFill>
                <a:latin typeface="Calibri"/>
              </a:rPr>
              <a:t>Por qué esta habilidad te posiciona</a:t>
            </a:r>
          </a:p>
        </p:txBody>
      </p:sp>
      <p:sp>
        <p:nvSpPr>
          <p:cNvPr id="5" name="Rectangle 4"/>
          <p:cNvSpPr/>
          <p:nvPr/>
        </p:nvSpPr>
        <p:spPr>
          <a:xfrm>
            <a:off x="868680" y="1783080"/>
            <a:ext cx="1554480" cy="64008"/>
          </a:xfrm>
          <a:prstGeom prst="rect">
            <a:avLst/>
          </a:prstGeom>
          <a:solidFill>
            <a:srgbClr val="E3B2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68680" y="2057400"/>
            <a:ext cx="5061204" cy="2084831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ADD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68680" y="2057400"/>
            <a:ext cx="118872" cy="2084831"/>
          </a:xfrm>
          <a:prstGeom prst="rect">
            <a:avLst/>
          </a:prstGeom>
          <a:solidFill>
            <a:srgbClr val="C84B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216152" y="2203704"/>
            <a:ext cx="4466844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4400" b="1">
                <a:solidFill>
                  <a:srgbClr val="C84B31"/>
                </a:solidFill>
                <a:latin typeface="Calibri"/>
              </a:rPr>
              <a:t>+38%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16152" y="2990088"/>
            <a:ext cx="4466844" cy="713231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2B2B2B"/>
                </a:solidFill>
                <a:latin typeface="Calibri"/>
              </a:rPr>
              <a:t>crecieron las ofertas de empleo con IA (2020–2024)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16152" y="3758183"/>
            <a:ext cx="4466844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050" b="0">
                <a:solidFill>
                  <a:srgbClr val="8A7C70"/>
                </a:solidFill>
                <a:latin typeface="Calibri"/>
              </a:rPr>
              <a:t>Fuente: LinkedIn, Future of Work: AI at Work 2025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77356" y="2057400"/>
            <a:ext cx="5061204" cy="2084831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ADD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277356" y="2057400"/>
            <a:ext cx="118872" cy="2084831"/>
          </a:xfrm>
          <a:prstGeom prst="rect">
            <a:avLst/>
          </a:prstGeom>
          <a:solidFill>
            <a:srgbClr val="6D2E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24828" y="2203704"/>
            <a:ext cx="4466844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4400" b="1">
                <a:solidFill>
                  <a:srgbClr val="6D2E46"/>
                </a:solidFill>
                <a:latin typeface="Calibri"/>
              </a:rPr>
              <a:t>59%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24828" y="2990088"/>
            <a:ext cx="4466844" cy="713231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2B2B2B"/>
                </a:solidFill>
                <a:latin typeface="Calibri"/>
              </a:rPr>
              <a:t>de diseñadores y desarrolladores ya usa IA en su trabajo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24828" y="3758183"/>
            <a:ext cx="4466844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050" b="0">
                <a:solidFill>
                  <a:srgbClr val="8A7C70"/>
                </a:solidFill>
                <a:latin typeface="Calibri"/>
              </a:rPr>
              <a:t>Fuente: Figma, AI Design Report 2024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68680" y="4489703"/>
            <a:ext cx="5061204" cy="2084831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ADD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68680" y="4489703"/>
            <a:ext cx="118872" cy="2084831"/>
          </a:xfrm>
          <a:prstGeom prst="rect">
            <a:avLst/>
          </a:prstGeom>
          <a:solidFill>
            <a:srgbClr val="4F77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216152" y="4636007"/>
            <a:ext cx="4466844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4400" b="1">
                <a:solidFill>
                  <a:srgbClr val="4F772D"/>
                </a:solidFill>
                <a:latin typeface="Calibri"/>
              </a:rPr>
              <a:t>50 ms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16152" y="5422391"/>
            <a:ext cx="4466844" cy="713231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2B2B2B"/>
                </a:solidFill>
                <a:latin typeface="Calibri"/>
              </a:rPr>
              <a:t>tarda un usuario en formar su primera impresión visual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16152" y="6190486"/>
            <a:ext cx="4466844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050" b="0">
                <a:solidFill>
                  <a:srgbClr val="8A7C70"/>
                </a:solidFill>
                <a:latin typeface="Calibri"/>
              </a:rPr>
              <a:t>Fuente: Lindgaard et al., 2006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6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640080" y="640080"/>
            <a:ext cx="10908792" cy="557784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ADD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640080"/>
            <a:ext cx="201168" cy="5577840"/>
          </a:xfrm>
          <a:prstGeom prst="rect">
            <a:avLst/>
          </a:prstGeom>
          <a:solidFill>
            <a:srgbClr val="E3B2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51560" y="960120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1">
                <a:solidFill>
                  <a:srgbClr val="C84B31"/>
                </a:solidFill>
                <a:latin typeface="Calibri"/>
              </a:rPr>
              <a:t>LABORATORIO DE HOY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1463040"/>
            <a:ext cx="100584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>
                <a:solidFill>
                  <a:srgbClr val="6D2E46"/>
                </a:solidFill>
                <a:latin typeface="Calibri"/>
              </a:rPr>
              <a:t>Mini-taller — Caso de portafolio + pitch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2606040"/>
            <a:ext cx="987552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500"/>
              </a:spcAft>
            </a:pPr>
            <a:r>
              <a:rPr sz="2300">
                <a:solidFill>
                  <a:srgbClr val="2B2B2B"/>
                </a:solidFill>
                <a:latin typeface="Calibri"/>
              </a:rPr>
              <a:t>•  Caso: problema, proceso (con prompts y capturas) y resultado</a:t>
            </a:r>
          </a:p>
          <a:p>
            <a:pPr>
              <a:spcAft>
                <a:spcPts val="1500"/>
              </a:spcAft>
            </a:pPr>
            <a:r>
              <a:rPr sz="2300">
                <a:solidFill>
                  <a:srgbClr val="2B2B2B"/>
                </a:solidFill>
                <a:latin typeface="Calibri"/>
              </a:rPr>
              <a:t>•  Guion de pitch de 2–3 minutos (gancho, demo, proceso, cierre)</a:t>
            </a:r>
          </a:p>
          <a:p>
            <a:pPr>
              <a:spcAft>
                <a:spcPts val="1500"/>
              </a:spcAft>
            </a:pPr>
            <a:r>
              <a:rPr sz="2300">
                <a:solidFill>
                  <a:srgbClr val="2B2B2B"/>
                </a:solidFill>
                <a:latin typeface="Calibri"/>
              </a:rPr>
              <a:t>•  Ensaya el pitch en voz alta</a:t>
            </a:r>
          </a:p>
          <a:p>
            <a:pPr>
              <a:spcAft>
                <a:spcPts val="1500"/>
              </a:spcAft>
            </a:pPr>
            <a:r>
              <a:rPr sz="2300">
                <a:solidFill>
                  <a:srgbClr val="2B2B2B"/>
                </a:solidFill>
                <a:latin typeface="Calibri"/>
              </a:rPr>
              <a:t>•  Recibe retroalimentación del grupo (¿se entiende el valor?)</a:t>
            </a:r>
          </a:p>
          <a:p>
            <a:pPr>
              <a:spcAft>
                <a:spcPts val="1500"/>
              </a:spcAft>
            </a:pPr>
            <a:r>
              <a:rPr sz="2300">
                <a:solidFill>
                  <a:srgbClr val="2B2B2B"/>
                </a:solidFill>
                <a:latin typeface="Calibri"/>
              </a:rPr>
              <a:t>•  Es el ensayo general del Demo Day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6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6D2E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45720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>
                <a:solidFill>
                  <a:srgbClr val="C84B31"/>
                </a:solidFill>
                <a:latin typeface="Calibri"/>
              </a:rPr>
              <a:t>CIERRE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914400"/>
            <a:ext cx="105156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600" b="1">
                <a:solidFill>
                  <a:srgbClr val="6D2E46"/>
                </a:solidFill>
                <a:latin typeface="Calibri"/>
              </a:rPr>
              <a:t>Lo que nos llevamos y la tarea</a:t>
            </a:r>
          </a:p>
        </p:txBody>
      </p:sp>
      <p:sp>
        <p:nvSpPr>
          <p:cNvPr id="5" name="Rectangle 4"/>
          <p:cNvSpPr/>
          <p:nvPr/>
        </p:nvSpPr>
        <p:spPr>
          <a:xfrm>
            <a:off x="868680" y="1783080"/>
            <a:ext cx="1554480" cy="64008"/>
          </a:xfrm>
          <a:prstGeom prst="rect">
            <a:avLst/>
          </a:prstGeom>
          <a:solidFill>
            <a:srgbClr val="E3B2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48840"/>
            <a:ext cx="5257800" cy="4160520"/>
          </a:xfrm>
          <a:prstGeom prst="roundRect">
            <a:avLst/>
          </a:prstGeom>
          <a:solidFill>
            <a:srgbClr val="F6EC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97280" y="2377440"/>
            <a:ext cx="47548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200" b="1">
                <a:solidFill>
                  <a:srgbClr val="4F772D"/>
                </a:solidFill>
                <a:latin typeface="Calibri"/>
              </a:rPr>
              <a:t>En resumen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2926080"/>
            <a:ext cx="475488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300"/>
              </a:spcAft>
            </a:pPr>
            <a:r>
              <a:rPr sz="2000">
                <a:solidFill>
                  <a:srgbClr val="2B2B2B"/>
                </a:solidFill>
                <a:latin typeface="Calibri"/>
              </a:rPr>
              <a:t>•  Un buen caso cuenta problema, proceso y resultado</a:t>
            </a:r>
          </a:p>
          <a:p>
            <a:pPr>
              <a:spcAft>
                <a:spcPts val="1300"/>
              </a:spcAft>
            </a:pPr>
            <a:r>
              <a:rPr sz="2000">
                <a:solidFill>
                  <a:srgbClr val="2B2B2B"/>
                </a:solidFill>
                <a:latin typeface="Calibri"/>
              </a:rPr>
              <a:t>•  El pitch comunica valor en 2–3 minutos</a:t>
            </a:r>
          </a:p>
          <a:p>
            <a:pPr>
              <a:spcAft>
                <a:spcPts val="1300"/>
              </a:spcAft>
            </a:pPr>
            <a:r>
              <a:rPr sz="2000">
                <a:solidFill>
                  <a:srgbClr val="2B2B2B"/>
                </a:solidFill>
                <a:latin typeface="Calibri"/>
              </a:rPr>
              <a:t>•  Tu portafolio es una pieza real para tu carrera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2148840"/>
            <a:ext cx="5120640" cy="4160520"/>
          </a:xfrm>
          <a:prstGeom prst="roundRect">
            <a:avLst/>
          </a:prstGeom>
          <a:solidFill>
            <a:srgbClr val="F6EC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37960" y="2377440"/>
            <a:ext cx="45720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200" b="1">
                <a:solidFill>
                  <a:srgbClr val="C84B31"/>
                </a:solidFill>
                <a:latin typeface="Calibri"/>
              </a:rPr>
              <a:t>Para la próxima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37960" y="2926080"/>
            <a:ext cx="457200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300"/>
              </a:spcAft>
            </a:pPr>
            <a:r>
              <a:rPr sz="2000">
                <a:solidFill>
                  <a:srgbClr val="2B2B2B"/>
                </a:solidFill>
                <a:latin typeface="Calibri"/>
              </a:rPr>
              <a:t>•  Termina tu caso de portafolio y tu guion de pitch</a:t>
            </a:r>
          </a:p>
          <a:p>
            <a:pPr>
              <a:spcAft>
                <a:spcPts val="1300"/>
              </a:spcAft>
            </a:pPr>
            <a:r>
              <a:rPr sz="2000">
                <a:solidFill>
                  <a:srgbClr val="2B2B2B"/>
                </a:solidFill>
                <a:latin typeface="Calibri"/>
              </a:rPr>
              <a:t>•  Ensaya con emulador o teléfono listo</a:t>
            </a:r>
          </a:p>
          <a:p>
            <a:pPr>
              <a:spcAft>
                <a:spcPts val="1300"/>
              </a:spcAft>
            </a:pPr>
            <a:r>
              <a:rPr sz="2000">
                <a:solidFill>
                  <a:srgbClr val="2B2B2B"/>
                </a:solidFill>
                <a:latin typeface="Calibri"/>
              </a:rPr>
              <a:t>•  Demo Day (sesión 10): defensa del Proyecto Final + pitch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