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09728" cy="6858000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3444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C84B31"/>
                </a:solidFill>
                <a:latin typeface="Calibri"/>
              </a:rPr>
              <a:t>SESIÓN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10607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200" b="1">
                <a:solidFill>
                  <a:srgbClr val="6D2E46"/>
                </a:solidFill>
                <a:latin typeface="Calibri"/>
              </a:rPr>
              <a:t>Desarrollo nativo II: producto real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" y="4343400"/>
            <a:ext cx="2194560" cy="82296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66344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2B2B2B"/>
                </a:solidFill>
                <a:latin typeface="Calibri"/>
              </a:rPr>
              <a:t>Proyectos III — Diseño de aplicaciones móviles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21208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F645B"/>
                </a:solidFill>
                <a:latin typeface="Calibri"/>
              </a:rPr>
              <a:t>Licenciatura en Comunicación y Diseño · Universidad Galileo · Docente: Adrián Catalán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SESIÓN DE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4884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600">
                <a:solidFill>
                  <a:srgbClr val="2B2B2B"/>
                </a:solidFill>
                <a:latin typeface="Calibri"/>
              </a:rPr>
              <a:t>●  Retroalimentación del parcial</a:t>
            </a:r>
          </a:p>
          <a:p>
            <a:pPr>
              <a:spcAft>
                <a:spcPts val="1600"/>
              </a:spcAft>
            </a:pPr>
            <a:r>
              <a:rPr sz="2600">
                <a:solidFill>
                  <a:srgbClr val="2B2B2B"/>
                </a:solidFill>
                <a:latin typeface="Calibri"/>
              </a:rPr>
              <a:t>●  Login con Google</a:t>
            </a:r>
          </a:p>
          <a:p>
            <a:pPr>
              <a:spcAft>
                <a:spcPts val="1600"/>
              </a:spcAft>
            </a:pPr>
            <a:r>
              <a:rPr sz="2600">
                <a:solidFill>
                  <a:srgbClr val="2B2B2B"/>
                </a:solidFill>
                <a:latin typeface="Calibri"/>
              </a:rPr>
              <a:t>●  Datos por usuario en Firestore</a:t>
            </a:r>
          </a:p>
          <a:p>
            <a:pPr>
              <a:spcAft>
                <a:spcPts val="1600"/>
              </a:spcAft>
            </a:pPr>
            <a:r>
              <a:rPr sz="2600">
                <a:solidFill>
                  <a:srgbClr val="2B2B2B"/>
                </a:solidFill>
                <a:latin typeface="Calibri"/>
              </a:rPr>
              <a:t>●  Fotos en Storage</a:t>
            </a:r>
          </a:p>
          <a:p>
            <a:pPr>
              <a:spcAft>
                <a:spcPts val="1600"/>
              </a:spcAft>
            </a:pPr>
            <a:r>
              <a:rPr sz="2600">
                <a:solidFill>
                  <a:srgbClr val="2B2B2B"/>
                </a:solidFill>
                <a:latin typeface="Calibri"/>
              </a:rPr>
              <a:t>●  Reglas de seguridad</a:t>
            </a:r>
          </a:p>
          <a:p>
            <a:pPr>
              <a:spcAft>
                <a:spcPts val="1600"/>
              </a:spcAft>
            </a:pPr>
            <a:r>
              <a:rPr sz="2600">
                <a:solidFill>
                  <a:srgbClr val="2B2B2B"/>
                </a:solidFill>
                <a:latin typeface="Calibri"/>
              </a:rPr>
              <a:t>●  Laboratorio 5 y tarea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EL SALTO DE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De bitácora de ejemplo a producto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031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Pasamos a un producto multiusuario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Cada persona entra con su cuenta y ve solo su bitácora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Datos en la nube y fotos reales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El corazón del Proyecto Final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IDENTIDAD DEL USUARIO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Login con Google (Authentication)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031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Pantalla de login con "Iniciar sesión con Google"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Google Sign-In de Firebase Authentication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Cada usuario obtiene un identificador único (uid)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Detectar la sesión y permitir cerrar sesión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FIRESTORE CON UID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Datos separados por usuario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031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Colección entradas: titulo, nota, imagenUrl, uid, fecha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La bitácora filtra por uid: cada quien ve solo lo suyo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Lectura en tiempo real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Estado vacío amable para el usuario sin entradas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PROTEGER LOS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Reglas de seguridad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031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Deciden quién puede leer y escribir qué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Cada usuario solo accede a sus propias entradas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Condición: uid == request.auth.uid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Tema de tu Investigación 1: revísalas antes del Demo Day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7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DEMO DEL DOCENTE ·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Diario de Viajes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2148840"/>
            <a:ext cx="6583680" cy="566928"/>
          </a:xfrm>
          <a:prstGeom prst="roundRect">
            <a:avLst/>
          </a:prstGeom>
          <a:solidFill>
            <a:srgbClr val="F6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240280"/>
            <a:ext cx="6035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6D2E46"/>
                </a:solidFill>
                <a:latin typeface="Calibri"/>
              </a:rPr>
              <a:t>El docente la construye en vivo — no es tu entrega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71800"/>
            <a:ext cx="6583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B2B2B"/>
                </a:solidFill>
                <a:latin typeface="Calibri"/>
              </a:rPr>
              <a:t>•  Diario privado por usuario, app nativa de Android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B2B2B"/>
                </a:solidFill>
                <a:latin typeface="Calibri"/>
              </a:rPr>
              <a:t>•  Ilustra login con Google y datos separados por uid en Firestore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B2B2B"/>
                </a:solidFill>
                <a:latin typeface="Calibri"/>
              </a:rPr>
              <a:t>•  El docente entra con dos cuentas para mostrar que cada quien ve solo lo suyo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257800"/>
            <a:ext cx="6583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F645B"/>
                </a:solidFill>
                <a:latin typeface="Calibri"/>
              </a:rPr>
              <a:t>Ilustra el concepto del día con una app distinta. Tu laboratorio sigue en la app insignia y en tu propia idea.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50307" y="2057400"/>
            <a:ext cx="2193225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2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emo-di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6027" y="2103120"/>
            <a:ext cx="2101785" cy="4297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641908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6D2E46"/>
                </a:solidFill>
                <a:latin typeface="Calibri"/>
              </a:rPr>
              <a:t>Captura real de la demo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7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CÓMO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Datos y fotos privados por usuario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3017520"/>
            <a:ext cx="227457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017520"/>
            <a:ext cx="2274570" cy="128016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474720"/>
            <a:ext cx="200025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6D2E46"/>
                </a:solidFill>
                <a:latin typeface="Calibri"/>
              </a:rPr>
              <a:t>Login Google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F645B"/>
                </a:solidFill>
                <a:latin typeface="Calibri"/>
              </a:rPr>
              <a:t>identidad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52394" y="3776472"/>
            <a:ext cx="393192" cy="402336"/>
          </a:xfrm>
          <a:prstGeom prst="rightArrow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00450" y="3017520"/>
            <a:ext cx="227457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00450" y="3017520"/>
            <a:ext cx="2274570" cy="128016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7610" y="3474720"/>
            <a:ext cx="200025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6D2E46"/>
                </a:solidFill>
                <a:latin typeface="Calibri"/>
              </a:rPr>
              <a:t>uid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F645B"/>
                </a:solidFill>
                <a:latin typeface="Calibri"/>
              </a:rPr>
              <a:t>quién eres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29884" y="3776472"/>
            <a:ext cx="393192" cy="402336"/>
          </a:xfrm>
          <a:prstGeom prst="rightArrow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77940" y="3017520"/>
            <a:ext cx="227457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77940" y="3017520"/>
            <a:ext cx="2274570" cy="128016"/>
          </a:xfrm>
          <a:prstGeom prst="rect">
            <a:avLst/>
          </a:prstGeom>
          <a:solidFill>
            <a:srgbClr val="4F7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5100" y="3474720"/>
            <a:ext cx="200025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6D2E46"/>
                </a:solidFill>
                <a:latin typeface="Calibri"/>
              </a:rPr>
              <a:t>Firestore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F645B"/>
                </a:solidFill>
                <a:latin typeface="Calibri"/>
              </a:rPr>
              <a:t>entradas del uid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07374" y="3776472"/>
            <a:ext cx="393192" cy="402336"/>
          </a:xfrm>
          <a:prstGeom prst="rightArrow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55430" y="3017520"/>
            <a:ext cx="227457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55430" y="3017520"/>
            <a:ext cx="2274570" cy="128016"/>
          </a:xfrm>
          <a:prstGeom prst="rect">
            <a:avLst/>
          </a:prstGeom>
          <a:solidFill>
            <a:srgbClr val="3A6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2590" y="3474720"/>
            <a:ext cx="200025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6D2E46"/>
                </a:solidFill>
                <a:latin typeface="Calibri"/>
              </a:rPr>
              <a:t>Storage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6F645B"/>
                </a:solidFill>
                <a:latin typeface="Calibri"/>
              </a:rPr>
              <a:t>las fotos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39496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La foto sube a Storage; en Firestore se guarda solo su dirección (imagenUrl) junto al uid. Así cada quien ve únicamente sus propias entradas.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EN PANTALLA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Login y bitácora privada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801" y="1956816"/>
            <a:ext cx="1989990" cy="4178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2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itacora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665" y="2011680"/>
            <a:ext cx="1880262" cy="4069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889705" y="6208776"/>
            <a:ext cx="352618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6D2E46"/>
                </a:solidFill>
                <a:latin typeface="Calibri"/>
              </a:rPr>
              <a:t>Iniciar sesión con Google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43903" y="1956816"/>
            <a:ext cx="1989990" cy="4178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2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itacora-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767" y="2011680"/>
            <a:ext cx="1880262" cy="4069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75807" y="6208776"/>
            <a:ext cx="352618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6D2E46"/>
                </a:solidFill>
                <a:latin typeface="Calibri"/>
              </a:rPr>
              <a:t>Solo mis entradas (filtradas por uid)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META Y RESULTADO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6D2E46"/>
                </a:solidFill>
                <a:latin typeface="Calibri"/>
              </a:rPr>
              <a:t>Bitácora Visual: la meta y el resultado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011680"/>
            <a:ext cx="5349240" cy="658368"/>
          </a:xfrm>
          <a:prstGeom prst="roundRect">
            <a:avLst/>
          </a:prstGeom>
          <a:solidFill>
            <a:srgbClr val="3A6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463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 · Esto vamos a construir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FDF6EC"/>
                </a:solidFill>
                <a:latin typeface="Calibri"/>
              </a:rPr>
              <a:t>Mock-up de referencia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5586" y="2788920"/>
            <a:ext cx="1654803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2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itacora-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306" y="2834640"/>
            <a:ext cx="1563363" cy="3383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6263640"/>
            <a:ext cx="5349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6D2E46"/>
                </a:solidFill>
                <a:latin typeface="Calibri"/>
              </a:rPr>
              <a:t>El mock-up de referencia (la guía)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73368" y="2011680"/>
            <a:ext cx="5349240" cy="658368"/>
          </a:xfrm>
          <a:prstGeom prst="round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8463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 · Así quedó, generado por la IA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FDF6EC"/>
                </a:solidFill>
                <a:latin typeface="Calibri"/>
              </a:rPr>
              <a:t>Captura real de la 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74970" y="2788920"/>
            <a:ext cx="1746036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2E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itacora-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0690" y="2834640"/>
            <a:ext cx="1654596" cy="33832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73368" y="6263640"/>
            <a:ext cx="5349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6D2E46"/>
                </a:solidFill>
                <a:latin typeface="Calibri"/>
              </a:rPr>
              <a:t>La app nativa generada por la 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640080"/>
            <a:ext cx="10908792" cy="5577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D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201168" cy="5577840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9601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C84B31"/>
                </a:solidFill>
                <a:latin typeface="Calibri"/>
              </a:rPr>
              <a:t>LABORATORIO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4630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6D2E46"/>
                </a:solidFill>
                <a:latin typeface="Calibri"/>
              </a:rPr>
              <a:t>Laboratorio 5 — App nativa con datos y login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06040"/>
            <a:ext cx="9875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Agrega login con Google y aprueba la activación de Firebase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Conecta las entradas a Firestore filtrando por uid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Agrega el formulario con subida de foto a Storage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Verifica que la entrada nueva aparece automáticamente</a:t>
            </a:r>
          </a:p>
          <a:p>
            <a:pPr>
              <a:spcAft>
                <a:spcPts val="1500"/>
              </a:spcAft>
            </a:pPr>
            <a:r>
              <a:rPr sz="2300">
                <a:solidFill>
                  <a:srgbClr val="2B2B2B"/>
                </a:solidFill>
                <a:latin typeface="Calibri"/>
              </a:rPr>
              <a:t>•  Prueba con dos cuentas que cada quien ve solo lo suyo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4B31"/>
                </a:solidFill>
                <a:latin typeface="Calibri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6D2E46"/>
                </a:solidFill>
                <a:latin typeface="Calibri"/>
              </a:rPr>
              <a:t>Lo que nos llevamos y la tarea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1554480" cy="64008"/>
          </a:xfrm>
          <a:prstGeom prst="rect">
            <a:avLst/>
          </a:prstGeom>
          <a:solidFill>
            <a:srgbClr val="E3B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5257800" cy="4160520"/>
          </a:xfrm>
          <a:prstGeom prst="roundRect">
            <a:avLst/>
          </a:prstGeom>
          <a:solidFill>
            <a:srgbClr val="F6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4F772D"/>
                </a:solidFill>
                <a:latin typeface="Calibri"/>
              </a:rPr>
              <a:t>En resumen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Login con Google y uid separan los datos por usuario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Storage guarda fotos; Firestore guarda su dirección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Las reglas de seguridad protegen a cada usuario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148840"/>
            <a:ext cx="5120640" cy="4160520"/>
          </a:xfrm>
          <a:prstGeom prst="roundRect">
            <a:avLst/>
          </a:prstGeom>
          <a:solidFill>
            <a:srgbClr val="F6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3774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C84B31"/>
                </a:solidFill>
                <a:latin typeface="Calibri"/>
              </a:rPr>
              <a:t>Para la próxima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92608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Investigación 1: reglas de seguridad de Firebase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Laboratorio 5: app nativa con datos y login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2B2B2B"/>
                </a:solidFill>
                <a:latin typeface="Calibri"/>
              </a:rPr>
              <a:t>•  Quiz de la unidad nativa con datos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