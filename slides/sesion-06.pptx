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6D2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" y="0"/>
            <a:ext cx="109728" cy="6858000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234440"/>
            <a:ext cx="104241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C84B31"/>
                </a:solidFill>
                <a:latin typeface="Calibri"/>
              </a:rPr>
              <a:t>SESIÓN 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874519"/>
            <a:ext cx="1060704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5200" b="1">
                <a:solidFill>
                  <a:srgbClr val="6D2E46"/>
                </a:solidFill>
                <a:latin typeface="Calibri"/>
              </a:rPr>
              <a:t>Desarrollo nativo II: producto real</a:t>
            </a:r>
          </a:p>
        </p:txBody>
      </p:sp>
      <p:sp>
        <p:nvSpPr>
          <p:cNvPr id="6" name="Rectangle 5"/>
          <p:cNvSpPr/>
          <p:nvPr/>
        </p:nvSpPr>
        <p:spPr>
          <a:xfrm>
            <a:off x="1024128" y="4343400"/>
            <a:ext cx="2194560" cy="82296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4663440"/>
            <a:ext cx="10424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300" b="1">
                <a:solidFill>
                  <a:srgbClr val="2B2B2B"/>
                </a:solidFill>
                <a:latin typeface="Calibri"/>
              </a:rPr>
              <a:t>Proyectos III — Diseño de aplicaciones móviles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5212080"/>
            <a:ext cx="10424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8A7C70"/>
                </a:solidFill>
                <a:latin typeface="Calibri"/>
              </a:rPr>
              <a:t>Licenciatura en Comunicación y Diseño · Universidad Galileo · Docente: Adrián Catalán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84B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84B31"/>
                </a:solidFill>
                <a:latin typeface="Calibri"/>
              </a:rPr>
              <a:t>SESIÓN DE HOY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6D2E46"/>
                </a:solidFill>
                <a:latin typeface="Calibri"/>
              </a:rPr>
              <a:t>Agenda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83080"/>
            <a:ext cx="1554480" cy="64008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148840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600">
                <a:solidFill>
                  <a:srgbClr val="2B2B2B"/>
                </a:solidFill>
                <a:latin typeface="Calibri"/>
              </a:rPr>
              <a:t>●  Retroalimentación del parcial</a:t>
            </a:r>
          </a:p>
          <a:p>
            <a:pPr>
              <a:spcAft>
                <a:spcPts val="1600"/>
              </a:spcAft>
            </a:pPr>
            <a:r>
              <a:rPr sz="2600">
                <a:solidFill>
                  <a:srgbClr val="2B2B2B"/>
                </a:solidFill>
                <a:latin typeface="Calibri"/>
              </a:rPr>
              <a:t>●  Login con Google</a:t>
            </a:r>
          </a:p>
          <a:p>
            <a:pPr>
              <a:spcAft>
                <a:spcPts val="1600"/>
              </a:spcAft>
            </a:pPr>
            <a:r>
              <a:rPr sz="2600">
                <a:solidFill>
                  <a:srgbClr val="2B2B2B"/>
                </a:solidFill>
                <a:latin typeface="Calibri"/>
              </a:rPr>
              <a:t>●  Datos por usuario en Firestore</a:t>
            </a:r>
          </a:p>
          <a:p>
            <a:pPr>
              <a:spcAft>
                <a:spcPts val="1600"/>
              </a:spcAft>
            </a:pPr>
            <a:r>
              <a:rPr sz="2600">
                <a:solidFill>
                  <a:srgbClr val="2B2B2B"/>
                </a:solidFill>
                <a:latin typeface="Calibri"/>
              </a:rPr>
              <a:t>●  Fotos en Storage</a:t>
            </a:r>
          </a:p>
          <a:p>
            <a:pPr>
              <a:spcAft>
                <a:spcPts val="1600"/>
              </a:spcAft>
            </a:pPr>
            <a:r>
              <a:rPr sz="2600">
                <a:solidFill>
                  <a:srgbClr val="2B2B2B"/>
                </a:solidFill>
                <a:latin typeface="Calibri"/>
              </a:rPr>
              <a:t>●  Reglas de seguridad</a:t>
            </a:r>
          </a:p>
          <a:p>
            <a:pPr>
              <a:spcAft>
                <a:spcPts val="1600"/>
              </a:spcAft>
            </a:pPr>
            <a:r>
              <a:rPr sz="2600">
                <a:solidFill>
                  <a:srgbClr val="2B2B2B"/>
                </a:solidFill>
                <a:latin typeface="Calibri"/>
              </a:rPr>
              <a:t>●  Laboratorio 5 y tarea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84B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84B31"/>
                </a:solidFill>
                <a:latin typeface="Calibri"/>
              </a:rPr>
              <a:t>EL SALTO DE HOY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6D2E46"/>
                </a:solidFill>
                <a:latin typeface="Calibri"/>
              </a:rPr>
              <a:t>De bitácora de ejemplo a producto real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83080"/>
            <a:ext cx="1554480" cy="64008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10312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Pasamos a un producto multiusuario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Cada persona entra con su cuenta y ve solo su bitácora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Datos en la nube y fotos reales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El corazón del Proyecto Final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84B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84B31"/>
                </a:solidFill>
                <a:latin typeface="Calibri"/>
              </a:rPr>
              <a:t>IDENTIDAD DEL USUARIO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6D2E46"/>
                </a:solidFill>
                <a:latin typeface="Calibri"/>
              </a:rPr>
              <a:t>Login con Google (Authentication)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83080"/>
            <a:ext cx="1554480" cy="64008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10312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Pantalla de login con "Iniciar sesión con Google"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Google Sign-In de Firebase Authentication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Cada usuario obtiene un identificador único (uid)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Detectar la sesión y permitir cerrar sesión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84B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84B31"/>
                </a:solidFill>
                <a:latin typeface="Calibri"/>
              </a:rPr>
              <a:t>FIRESTORE CON UID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6D2E46"/>
                </a:solidFill>
                <a:latin typeface="Calibri"/>
              </a:rPr>
              <a:t>Datos separados por usuario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83080"/>
            <a:ext cx="1554480" cy="64008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10312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Colección entradas: titulo, nota, imagenUrl, uid, fecha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La bitácora filtra por uid: cada quien ve solo lo suyo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Lectura en tiempo real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Estado vacío amable para el usuario sin entradas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84B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84B31"/>
                </a:solidFill>
                <a:latin typeface="Calibri"/>
              </a:rPr>
              <a:t>PROTEGER LOS DATOS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6D2E46"/>
                </a:solidFill>
                <a:latin typeface="Calibri"/>
              </a:rPr>
              <a:t>Reglas de seguridad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83080"/>
            <a:ext cx="1554480" cy="64008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10312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Deciden quién puede leer y escribir qué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Cada usuario solo accede a sus propias entradas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Condición: uid == request.auth.uid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Tema de tu Investigación 1: revísalas antes del Demo Day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F7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84B31"/>
                </a:solidFill>
                <a:latin typeface="Calibri"/>
              </a:rPr>
              <a:t>CÓMO FUNCIONA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6D2E46"/>
                </a:solidFill>
                <a:latin typeface="Calibri"/>
              </a:rPr>
              <a:t>Datos y fotos privados por usuario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83080"/>
            <a:ext cx="1554480" cy="64008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3017520"/>
            <a:ext cx="2274570" cy="19202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ADD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3017520"/>
            <a:ext cx="2274570" cy="128016"/>
          </a:xfrm>
          <a:prstGeom prst="rect">
            <a:avLst/>
          </a:prstGeom>
          <a:solidFill>
            <a:srgbClr val="6D2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3474720"/>
            <a:ext cx="200025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900" b="1">
                <a:solidFill>
                  <a:srgbClr val="6D2E46"/>
                </a:solidFill>
                <a:latin typeface="Calibri"/>
              </a:rPr>
              <a:t>Login Google</a:t>
            </a:r>
          </a:p>
          <a:p>
            <a:pPr algn="ctr">
              <a:spcAft>
                <a:spcPts val="600"/>
              </a:spcAft>
            </a:pPr>
            <a:r>
              <a:rPr sz="1400" b="0">
                <a:solidFill>
                  <a:srgbClr val="8A7C70"/>
                </a:solidFill>
                <a:latin typeface="Calibri"/>
              </a:rPr>
              <a:t>identidad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152394" y="3776472"/>
            <a:ext cx="393192" cy="402336"/>
          </a:xfrm>
          <a:prstGeom prst="rightArrow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600450" y="3017520"/>
            <a:ext cx="2274570" cy="19202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ADD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00450" y="3017520"/>
            <a:ext cx="2274570" cy="128016"/>
          </a:xfrm>
          <a:prstGeom prst="rect">
            <a:avLst/>
          </a:prstGeom>
          <a:solidFill>
            <a:srgbClr val="C84B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37610" y="3474720"/>
            <a:ext cx="200025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900" b="1">
                <a:solidFill>
                  <a:srgbClr val="6D2E46"/>
                </a:solidFill>
                <a:latin typeface="Calibri"/>
              </a:rPr>
              <a:t>uid</a:t>
            </a:r>
          </a:p>
          <a:p>
            <a:pPr algn="ctr">
              <a:spcAft>
                <a:spcPts val="600"/>
              </a:spcAft>
            </a:pPr>
            <a:r>
              <a:rPr sz="1400" b="0">
                <a:solidFill>
                  <a:srgbClr val="8A7C70"/>
                </a:solidFill>
                <a:latin typeface="Calibri"/>
              </a:rPr>
              <a:t>quién eres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5929884" y="3776472"/>
            <a:ext cx="393192" cy="402336"/>
          </a:xfrm>
          <a:prstGeom prst="rightArrow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377940" y="3017520"/>
            <a:ext cx="2274570" cy="19202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ADD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77940" y="3017520"/>
            <a:ext cx="2274570" cy="128016"/>
          </a:xfrm>
          <a:prstGeom prst="rect">
            <a:avLst/>
          </a:prstGeom>
          <a:solidFill>
            <a:srgbClr val="4F7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15100" y="3474720"/>
            <a:ext cx="200025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900" b="1">
                <a:solidFill>
                  <a:srgbClr val="6D2E46"/>
                </a:solidFill>
                <a:latin typeface="Calibri"/>
              </a:rPr>
              <a:t>Firestore</a:t>
            </a:r>
          </a:p>
          <a:p>
            <a:pPr algn="ctr">
              <a:spcAft>
                <a:spcPts val="600"/>
              </a:spcAft>
            </a:pPr>
            <a:r>
              <a:rPr sz="1400" b="0">
                <a:solidFill>
                  <a:srgbClr val="8A7C70"/>
                </a:solidFill>
                <a:latin typeface="Calibri"/>
              </a:rPr>
              <a:t>entradas del uid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8707374" y="3776472"/>
            <a:ext cx="393192" cy="402336"/>
          </a:xfrm>
          <a:prstGeom prst="rightArrow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155430" y="3017520"/>
            <a:ext cx="2274570" cy="19202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ADD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155430" y="3017520"/>
            <a:ext cx="2274570" cy="128016"/>
          </a:xfrm>
          <a:prstGeom prst="rect">
            <a:avLst/>
          </a:prstGeom>
          <a:solidFill>
            <a:srgbClr val="3A6B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92590" y="3474720"/>
            <a:ext cx="200025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900" b="1">
                <a:solidFill>
                  <a:srgbClr val="6D2E46"/>
                </a:solidFill>
                <a:latin typeface="Calibri"/>
              </a:rPr>
              <a:t>Storage</a:t>
            </a:r>
          </a:p>
          <a:p>
            <a:pPr algn="ctr">
              <a:spcAft>
                <a:spcPts val="600"/>
              </a:spcAft>
            </a:pPr>
            <a:r>
              <a:rPr sz="1400" b="0">
                <a:solidFill>
                  <a:srgbClr val="8A7C70"/>
                </a:solidFill>
                <a:latin typeface="Calibri"/>
              </a:rPr>
              <a:t>las fotos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394960"/>
            <a:ext cx="10424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2B2B2B"/>
                </a:solidFill>
                <a:latin typeface="Calibri"/>
              </a:rPr>
              <a:t>La foto sube a Storage; en Firestore se guarda solo su dirección (imagenUrl) junto al uid. Así cada quien ve únicamente sus propias entradas.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84B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84B31"/>
                </a:solidFill>
                <a:latin typeface="Calibri"/>
              </a:rPr>
              <a:t>EN PANTALLA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6D2E46"/>
                </a:solidFill>
                <a:latin typeface="Calibri"/>
              </a:rPr>
              <a:t>Login y bitácora privada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83080"/>
            <a:ext cx="1554480" cy="64008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657801" y="1956816"/>
            <a:ext cx="1989990" cy="417880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6D2E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bitacora-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2665" y="2011680"/>
            <a:ext cx="1880262" cy="40690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889705" y="6208776"/>
            <a:ext cx="352618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6D2E46"/>
                </a:solidFill>
                <a:latin typeface="Calibri"/>
              </a:rPr>
              <a:t>Iniciar sesión con Google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43903" y="1956816"/>
            <a:ext cx="1989990" cy="417880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6D2E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bitacora-gr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8767" y="2011680"/>
            <a:ext cx="1880262" cy="40690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775807" y="6208776"/>
            <a:ext cx="352618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6D2E46"/>
                </a:solidFill>
                <a:latin typeface="Calibri"/>
              </a:rPr>
              <a:t>Solo mis entradas (filtradas por uid)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640080"/>
            <a:ext cx="10908792" cy="5577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ADD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640080"/>
            <a:ext cx="201168" cy="5577840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96012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C84B31"/>
                </a:solidFill>
                <a:latin typeface="Calibri"/>
              </a:rPr>
              <a:t>LABORATORIO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463040"/>
            <a:ext cx="100584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6D2E46"/>
                </a:solidFill>
                <a:latin typeface="Calibri"/>
              </a:rPr>
              <a:t>Laboratorio 5 — App nativa con datos y login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606040"/>
            <a:ext cx="9875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Agrega login con Google y aprueba la activación de Firebase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Conecta las entradas a Firestore filtrando por uid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Agrega el formulario con subida de foto a Storage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Verifica que la entrada nueva aparece automáticamente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Prueba con dos cuentas que cada quien ve solo lo suyo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6D2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84B31"/>
                </a:solidFill>
                <a:latin typeface="Calibri"/>
              </a:rPr>
              <a:t>CIERRE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6D2E46"/>
                </a:solidFill>
                <a:latin typeface="Calibri"/>
              </a:rPr>
              <a:t>Lo que nos llevamos y la tarea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83080"/>
            <a:ext cx="1554480" cy="64008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5257800" cy="4160520"/>
          </a:xfrm>
          <a:prstGeom prst="roundRect">
            <a:avLst/>
          </a:prstGeom>
          <a:solidFill>
            <a:srgbClr val="F6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377440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4F772D"/>
                </a:solidFill>
                <a:latin typeface="Calibri"/>
              </a:rPr>
              <a:t>En resumen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926080"/>
            <a:ext cx="47548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2000">
                <a:solidFill>
                  <a:srgbClr val="2B2B2B"/>
                </a:solidFill>
                <a:latin typeface="Calibri"/>
              </a:rPr>
              <a:t>•  Login con Google y uid separan los datos por usuario</a:t>
            </a:r>
          </a:p>
          <a:p>
            <a:pPr>
              <a:spcAft>
                <a:spcPts val="1300"/>
              </a:spcAft>
            </a:pPr>
            <a:r>
              <a:rPr sz="2000">
                <a:solidFill>
                  <a:srgbClr val="2B2B2B"/>
                </a:solidFill>
                <a:latin typeface="Calibri"/>
              </a:rPr>
              <a:t>•  Storage guarda fotos; Firestore guarda su dirección</a:t>
            </a:r>
          </a:p>
          <a:p>
            <a:pPr>
              <a:spcAft>
                <a:spcPts val="1300"/>
              </a:spcAft>
            </a:pPr>
            <a:r>
              <a:rPr sz="2000">
                <a:solidFill>
                  <a:srgbClr val="2B2B2B"/>
                </a:solidFill>
                <a:latin typeface="Calibri"/>
              </a:rPr>
              <a:t>•  Las reglas de seguridad protegen a cada usuario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148840"/>
            <a:ext cx="5120640" cy="4160520"/>
          </a:xfrm>
          <a:prstGeom prst="roundRect">
            <a:avLst/>
          </a:prstGeom>
          <a:solidFill>
            <a:srgbClr val="F6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2377440"/>
            <a:ext cx="4572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C84B31"/>
                </a:solidFill>
                <a:latin typeface="Calibri"/>
              </a:rPr>
              <a:t>Para la próxima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926080"/>
            <a:ext cx="45720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2000">
                <a:solidFill>
                  <a:srgbClr val="2B2B2B"/>
                </a:solidFill>
                <a:latin typeface="Calibri"/>
              </a:rPr>
              <a:t>•  Investigación 1: reglas de seguridad de Firebase</a:t>
            </a:r>
          </a:p>
          <a:p>
            <a:pPr>
              <a:spcAft>
                <a:spcPts val="1300"/>
              </a:spcAft>
            </a:pPr>
            <a:r>
              <a:rPr sz="2000">
                <a:solidFill>
                  <a:srgbClr val="2B2B2B"/>
                </a:solidFill>
                <a:latin typeface="Calibri"/>
              </a:rPr>
              <a:t>•  Laboratorio 5: app nativa con datos y login</a:t>
            </a:r>
          </a:p>
          <a:p>
            <a:pPr>
              <a:spcAft>
                <a:spcPts val="1300"/>
              </a:spcAft>
            </a:pPr>
            <a:r>
              <a:rPr sz="2000">
                <a:solidFill>
                  <a:srgbClr val="2B2B2B"/>
                </a:solidFill>
                <a:latin typeface="Calibri"/>
              </a:rPr>
              <a:t>•  Quiz de la unidad nativa con datos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