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09728" cy="6858000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23444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C84B31"/>
                </a:solidFill>
                <a:latin typeface="Calibri"/>
              </a:rPr>
              <a:t>SESIÓN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10607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200" b="1">
                <a:solidFill>
                  <a:srgbClr val="6D2E46"/>
                </a:solidFill>
                <a:latin typeface="Calibri"/>
              </a:rPr>
              <a:t>Introducción, UX/UI móvil y el diseñador-creador con IA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" y="4343400"/>
            <a:ext cx="2194560" cy="82296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66344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2B2B2B"/>
                </a:solidFill>
                <a:latin typeface="Calibri"/>
              </a:rPr>
              <a:t>Proyectos III — Diseño de aplicaciones móviles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21208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F645B"/>
                </a:solidFill>
                <a:latin typeface="Calibri"/>
              </a:rPr>
              <a:t>Licenciatura en Comunicación y Diseño · Universidad Galileo · Docente: Adrián Catalán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SESIÓN DE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14884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600">
                <a:solidFill>
                  <a:srgbClr val="2B2B2B"/>
                </a:solidFill>
                <a:latin typeface="Calibri"/>
              </a:rPr>
              <a:t>●  Bienvenida y de qué trata el curso</a:t>
            </a:r>
          </a:p>
          <a:p>
            <a:pPr>
              <a:spcAft>
                <a:spcPts val="1600"/>
              </a:spcAft>
            </a:pPr>
            <a:r>
              <a:rPr sz="2600">
                <a:solidFill>
                  <a:srgbClr val="2B2B2B"/>
                </a:solidFill>
                <a:latin typeface="Calibri"/>
              </a:rPr>
              <a:t>●  El diseñador-creador con IA</a:t>
            </a:r>
          </a:p>
          <a:p>
            <a:pPr>
              <a:spcAft>
                <a:spcPts val="1600"/>
              </a:spcAft>
            </a:pPr>
            <a:r>
              <a:rPr sz="2600">
                <a:solidFill>
                  <a:srgbClr val="2B2B2B"/>
                </a:solidFill>
                <a:latin typeface="Calibri"/>
              </a:rPr>
              <a:t>●  Panorama de herramientas</a:t>
            </a:r>
          </a:p>
          <a:p>
            <a:pPr>
              <a:spcAft>
                <a:spcPts val="1600"/>
              </a:spcAft>
            </a:pPr>
            <a:r>
              <a:rPr sz="2600">
                <a:solidFill>
                  <a:srgbClr val="2B2B2B"/>
                </a:solidFill>
                <a:latin typeface="Calibri"/>
              </a:rPr>
              <a:t>●  Principios de UX/UI móvil</a:t>
            </a:r>
          </a:p>
          <a:p>
            <a:pPr>
              <a:spcAft>
                <a:spcPts val="1600"/>
              </a:spcAft>
            </a:pPr>
            <a:r>
              <a:rPr sz="2600">
                <a:solidFill>
                  <a:srgbClr val="2B2B2B"/>
                </a:solidFill>
                <a:latin typeface="Calibri"/>
              </a:rPr>
              <a:t>●  Los datos: por qué móvil y por qué ahora</a:t>
            </a:r>
          </a:p>
          <a:p>
            <a:pPr>
              <a:spcAft>
                <a:spcPts val="1600"/>
              </a:spcAft>
            </a:pPr>
            <a:r>
              <a:rPr sz="2600">
                <a:solidFill>
                  <a:srgbClr val="2B2B2B"/>
                </a:solidFill>
                <a:latin typeface="Calibri"/>
              </a:rPr>
              <a:t>●  Demo en vivo y Laboratorio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LA IDEA CENTRAL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Desarrollo de software asistido por IA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1031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Construimos apps móviles reales sin escribir código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Dirigimos a la IA en español con instrucciones claras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Tu fortaleza —diseño, UX, identidad visual, narrativa— guía a la IA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Siempre decimos "desarrollo asistido por IA", nunca "vibe coding"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HACIA DÓNDE VAMOS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Dos proyectos a lo largo del trimestre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1031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Proyecto 1 (PWA): "Ruta del Café", semanas 1–3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Se evalúa en el Examen Parcial (sesión 5)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Proyecto Final (nativa): "Bitácora Visual", semanas 4, 6 y 7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Se entrega y se muestra en el Demo Day (sesión 10)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CON QUÉ CONSTRUIMOS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Panorama de herramientas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1031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Google AI Studio (modo Build): todo desde el navegador (Chrome)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La IA de AI Studio genera el código; modelo por defecto Gemini 3.5 Flash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PWA (React) y app nativa Android (Kotlin + Compose), en la misma herramienta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Firebase: Firestore, Authentication, Storage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Cloud Run para publicar · AI Chips (Nano Banana)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Todo gratis; solo necesitas una cuenta de Google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DISEÑAR PARA EL TELÉFONO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Principios de UX/UI móvil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1031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Mobile-first: pantalla pequeña, una columna, jerarquía clara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Áreas táctiles grandes (mínimo ~44px) y buen contraste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Diseñar para el pulgar: lo importante al alcance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Patrones: tarjetas (cards), filtros, vista de detalle, navegación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Cuidar los estados: vacío, cargando y error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OPCIONAL Y MUY SIMPLE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GitHub: guardar y compartir tu trabajo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1031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Un repositorio (repo) es como una carpeta en la nube con el historial de tu proyecto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Sirve para guardar versiones, no perder trabajo y compartir con otras personas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AI Studio puede exportar tu app a GitHub con un clic (opcional en el curso)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Piénsalo como tu portafolio de código: tu app vive ahí y la puedes mostrar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7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DEMO DEL DOCENTE ·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Antojitos Chapines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6112" y="2148840"/>
            <a:ext cx="6583680" cy="566928"/>
          </a:xfrm>
          <a:prstGeom prst="roundRect">
            <a:avLst/>
          </a:prstGeom>
          <a:solidFill>
            <a:srgbClr val="F6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240280"/>
            <a:ext cx="6035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6D2E46"/>
                </a:solidFill>
                <a:latin typeface="Calibri"/>
              </a:rPr>
              <a:t>El docente la construye en vivo — no es tu entrega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971800"/>
            <a:ext cx="6583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2B2B2B"/>
                </a:solidFill>
                <a:latin typeface="Calibri"/>
              </a:rPr>
              <a:t>•  Catálogo de antojitos callejeros de Guatemala (PWA)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B2B2B"/>
                </a:solidFill>
                <a:latin typeface="Calibri"/>
              </a:rPr>
              <a:t>•  Mismo patrón que Ruta del Café: tarjetas, filtro y estética de marca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B2B2B"/>
                </a:solidFill>
                <a:latin typeface="Calibri"/>
              </a:rPr>
              <a:t>•  El docente la arma en vivo con un solo prompt inicial detallado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257800"/>
            <a:ext cx="6583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F645B"/>
                </a:solidFill>
                <a:latin typeface="Calibri"/>
              </a:rPr>
              <a:t>Ilustra el concepto del día con una app distinta. Tu laboratorio sigue en la app insignia y en tu propia idea.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3202083"/>
            <a:ext cx="3749040" cy="209975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2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emo-antoji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3247803"/>
            <a:ext cx="3657600" cy="200831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1812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6D2E46"/>
                </a:solidFill>
                <a:latin typeface="Calibri"/>
              </a:rPr>
              <a:t>Captura real de la demo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7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VOCABULARIO PARA DISEÑO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Glosario mínimo de IA generativa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011680"/>
            <a:ext cx="5349240" cy="7863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011680"/>
            <a:ext cx="91440" cy="786384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66544"/>
            <a:ext cx="489204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>
                <a:solidFill>
                  <a:srgbClr val="6D2E46"/>
                </a:solidFill>
                <a:latin typeface="Calibri"/>
              </a:rPr>
              <a:t>Prompt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2B2B2B"/>
                </a:solidFill>
                <a:latin typeface="Calibri"/>
              </a:rPr>
              <a:t>La instrucción en español que le das a la IA para crear o cambiar algo.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898648"/>
            <a:ext cx="5349240" cy="7863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898648"/>
            <a:ext cx="91440" cy="786384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953512"/>
            <a:ext cx="489204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>
                <a:solidFill>
                  <a:srgbClr val="6D2E46"/>
                </a:solidFill>
                <a:latin typeface="Calibri"/>
              </a:rPr>
              <a:t>Modelo (Gemini 3.5 Flash)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2B2B2B"/>
                </a:solidFill>
                <a:latin typeface="Calibri"/>
              </a:rPr>
              <a:t>El "cerebro" de IA que genera; el que usa AI Studio por defecto.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785616"/>
            <a:ext cx="5349240" cy="7863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3785616"/>
            <a:ext cx="91440" cy="786384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840480"/>
            <a:ext cx="489204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>
                <a:solidFill>
                  <a:srgbClr val="6D2E46"/>
                </a:solidFill>
                <a:latin typeface="Calibri"/>
              </a:rPr>
              <a:t>Token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2B2B2B"/>
                </a:solidFill>
                <a:latin typeface="Calibri"/>
              </a:rPr>
              <a:t>La unidad mínima de texto que la IA procesa (trozos de palabras).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672584"/>
            <a:ext cx="5349240" cy="7863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4672584"/>
            <a:ext cx="91440" cy="786384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727448"/>
            <a:ext cx="489204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>
                <a:solidFill>
                  <a:srgbClr val="6D2E46"/>
                </a:solidFill>
                <a:latin typeface="Calibri"/>
              </a:rPr>
              <a:t>Generar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2B2B2B"/>
                </a:solidFill>
                <a:latin typeface="Calibri"/>
              </a:rPr>
              <a:t>Cuando la IA produce el código y la app a partir de tu prompt.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559552"/>
            <a:ext cx="5349240" cy="7863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5559552"/>
            <a:ext cx="91440" cy="786384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614416"/>
            <a:ext cx="489204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>
                <a:solidFill>
                  <a:srgbClr val="6D2E46"/>
                </a:solidFill>
                <a:latin typeface="Calibri"/>
              </a:rPr>
              <a:t>Iterar / refinar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2B2B2B"/>
                </a:solidFill>
                <a:latin typeface="Calibri"/>
              </a:rPr>
              <a:t>Mejorar la app pidiendo un cambio a la vez.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3368" y="2011680"/>
            <a:ext cx="5349240" cy="7863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73368" y="2011680"/>
            <a:ext cx="91440" cy="786384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2066544"/>
            <a:ext cx="489204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>
                <a:solidFill>
                  <a:srgbClr val="6D2E46"/>
                </a:solidFill>
                <a:latin typeface="Calibri"/>
              </a:rPr>
              <a:t>Checkpoint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2B2B2B"/>
                </a:solidFill>
                <a:latin typeface="Calibri"/>
              </a:rPr>
              <a:t>Un punto guardado al que puedes volver (como guardar la partida).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73368" y="2898648"/>
            <a:ext cx="5349240" cy="7863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73368" y="2898648"/>
            <a:ext cx="91440" cy="786384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2953512"/>
            <a:ext cx="489204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>
                <a:solidFill>
                  <a:srgbClr val="6D2E46"/>
                </a:solidFill>
                <a:latin typeface="Calibri"/>
              </a:rPr>
              <a:t>Alucinación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2B2B2B"/>
                </a:solidFill>
                <a:latin typeface="Calibri"/>
              </a:rPr>
              <a:t>Cuando la IA inventa algo incorrecto; siempre hay que verificar.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73368" y="3785616"/>
            <a:ext cx="5349240" cy="7863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73368" y="3785616"/>
            <a:ext cx="91440" cy="786384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3840480"/>
            <a:ext cx="489204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>
                <a:solidFill>
                  <a:srgbClr val="6D2E46"/>
                </a:solidFill>
                <a:latin typeface="Calibri"/>
              </a:rPr>
              <a:t>AI Chips (Nano Banana)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2B2B2B"/>
                </a:solidFill>
                <a:latin typeface="Calibri"/>
              </a:rPr>
              <a:t>Servicios de Google dentro de AI Studio; Nano Banana genera imágenes.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73368" y="4672584"/>
            <a:ext cx="5349240" cy="7863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73368" y="4672584"/>
            <a:ext cx="91440" cy="786384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4727448"/>
            <a:ext cx="489204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>
                <a:solidFill>
                  <a:srgbClr val="6D2E46"/>
                </a:solidFill>
                <a:latin typeface="Calibri"/>
              </a:rPr>
              <a:t>Firebase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2B2B2B"/>
                </a:solidFill>
                <a:latin typeface="Calibri"/>
              </a:rPr>
              <a:t>La nube de Google: datos (Firestore), login (Auth) y archivos (Storage).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7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PARA DISEÑO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¿Cómo hace la IA todo esto?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3017520"/>
            <a:ext cx="320040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3017520"/>
            <a:ext cx="3200400" cy="128016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474720"/>
            <a:ext cx="292608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6D2E46"/>
                </a:solidFill>
                <a:latin typeface="Calibri"/>
              </a:rPr>
              <a:t>Prompt en español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F645B"/>
                </a:solidFill>
                <a:latin typeface="Calibri"/>
              </a:rPr>
              <a:t>tu instrucción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78224" y="3776472"/>
            <a:ext cx="393192" cy="402336"/>
          </a:xfrm>
          <a:prstGeom prst="rightArrow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26280" y="3017520"/>
            <a:ext cx="320040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3017520"/>
            <a:ext cx="3200400" cy="128016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3474720"/>
            <a:ext cx="292608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6D2E46"/>
                </a:solidFill>
                <a:latin typeface="Calibri"/>
              </a:rPr>
              <a:t>La IA escribe el código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F645B"/>
                </a:solidFill>
                <a:latin typeface="Calibri"/>
              </a:rPr>
              <a:t>interfaz + lógica + datos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781544" y="3776472"/>
            <a:ext cx="393192" cy="402336"/>
          </a:xfrm>
          <a:prstGeom prst="rightArrow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0" y="3017520"/>
            <a:ext cx="320040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3017520"/>
            <a:ext cx="3200400" cy="128016"/>
          </a:xfrm>
          <a:prstGeom prst="rect">
            <a:avLst/>
          </a:prstGeom>
          <a:solidFill>
            <a:srgbClr val="4F7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3474720"/>
            <a:ext cx="292608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6D2E46"/>
                </a:solidFill>
                <a:latin typeface="Calibri"/>
              </a:rPr>
              <a:t>Vista previa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F645B"/>
                </a:solidFill>
                <a:latin typeface="Calibri"/>
              </a:rPr>
              <a:t>la app corriendo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9496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Tú diriges con criterio de diseño; la IA es como un desarrollador junior muy rápido: ella escribe el código, tú decides qué se construye y cómo se 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7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FLUJO DE TRABAJO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Cómo se dirige a la IA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3017520"/>
            <a:ext cx="227457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3017520"/>
            <a:ext cx="2274570" cy="128016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474720"/>
            <a:ext cx="200025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6D2E46"/>
                </a:solidFill>
                <a:latin typeface="Calibri"/>
              </a:rPr>
              <a:t>Prompt inicial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F645B"/>
                </a:solidFill>
                <a:latin typeface="Calibri"/>
              </a:rPr>
              <a:t>detallado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52394" y="3776472"/>
            <a:ext cx="393192" cy="402336"/>
          </a:xfrm>
          <a:prstGeom prst="rightArrow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00450" y="3017520"/>
            <a:ext cx="227457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00450" y="3017520"/>
            <a:ext cx="2274570" cy="128016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7610" y="3474720"/>
            <a:ext cx="200025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6D2E46"/>
                </a:solidFill>
                <a:latin typeface="Calibri"/>
              </a:rPr>
              <a:t>Vista previa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F645B"/>
                </a:solidFill>
                <a:latin typeface="Calibri"/>
              </a:rPr>
              <a:t>revisar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29884" y="3776472"/>
            <a:ext cx="393192" cy="402336"/>
          </a:xfrm>
          <a:prstGeom prst="rightArrow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77940" y="3017520"/>
            <a:ext cx="227457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77940" y="3017520"/>
            <a:ext cx="2274570" cy="128016"/>
          </a:xfrm>
          <a:prstGeom prst="rect">
            <a:avLst/>
          </a:prstGeom>
          <a:solidFill>
            <a:srgbClr val="4F7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5100" y="3474720"/>
            <a:ext cx="200025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6D2E46"/>
                </a:solidFill>
                <a:latin typeface="Calibri"/>
              </a:rPr>
              <a:t>Refinar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F645B"/>
                </a:solidFill>
                <a:latin typeface="Calibri"/>
              </a:rPr>
              <a:t>un cambio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707374" y="3776472"/>
            <a:ext cx="393192" cy="402336"/>
          </a:xfrm>
          <a:prstGeom prst="rightArrow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55430" y="3017520"/>
            <a:ext cx="227457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55430" y="3017520"/>
            <a:ext cx="2274570" cy="128016"/>
          </a:xfrm>
          <a:prstGeom prst="rect">
            <a:avLst/>
          </a:prstGeom>
          <a:solidFill>
            <a:srgbClr val="3A6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2590" y="3474720"/>
            <a:ext cx="200025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6D2E46"/>
                </a:solidFill>
                <a:latin typeface="Calibri"/>
              </a:rPr>
              <a:t>Checkpoint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F645B"/>
                </a:solidFill>
                <a:latin typeface="Calibri"/>
              </a:rPr>
              <a:t>guardar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39496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Es un ciclo: revisas la vista previa, pides un cambio a la vez y guardas checkpoints. View diff te muestra qué cambió; regla de los 2 strikes si algo se atora.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A6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LOS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Por qué móvil y por qué ahora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2057400"/>
            <a:ext cx="5061204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057400"/>
            <a:ext cx="118872" cy="2084831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6152" y="2203704"/>
            <a:ext cx="446684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C84B31"/>
                </a:solidFill>
                <a:latin typeface="Calibri"/>
              </a:rPr>
              <a:t>51.6%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2990088"/>
            <a:ext cx="4466844" cy="7132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2B2B"/>
                </a:solidFill>
                <a:latin typeface="Calibri"/>
              </a:rPr>
              <a:t>del tráfico web mundial ya viene de teléfonos móviles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6152" y="3758183"/>
            <a:ext cx="44668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F645B"/>
                </a:solidFill>
                <a:latin typeface="Calibri"/>
              </a:rPr>
              <a:t>Fuente: DataReportal, Digital 2025 Global Overview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7356" y="2057400"/>
            <a:ext cx="5061204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77356" y="2057400"/>
            <a:ext cx="118872" cy="2084831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4828" y="2203704"/>
            <a:ext cx="446684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6D2E46"/>
                </a:solidFill>
                <a:latin typeface="Calibri"/>
              </a:rPr>
              <a:t>20.4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4828" y="2990088"/>
            <a:ext cx="4466844" cy="7132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2B2B"/>
                </a:solidFill>
                <a:latin typeface="Calibri"/>
              </a:rPr>
              <a:t>conexiones móviles en Guatemala (≈110% de la población)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4828" y="3758183"/>
            <a:ext cx="44668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F645B"/>
                </a:solidFill>
                <a:latin typeface="Calibri"/>
              </a:rPr>
              <a:t>Fuente: DataReportal, Digital 2025 Guatemala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489703"/>
            <a:ext cx="5061204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4489703"/>
            <a:ext cx="118872" cy="2084831"/>
          </a:xfrm>
          <a:prstGeom prst="rect">
            <a:avLst/>
          </a:prstGeom>
          <a:solidFill>
            <a:srgbClr val="4F7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6152" y="4636007"/>
            <a:ext cx="446684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4F772D"/>
                </a:solidFill>
                <a:latin typeface="Calibri"/>
              </a:rPr>
              <a:t>84%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5422391"/>
            <a:ext cx="4466844" cy="7132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2B2B"/>
                </a:solidFill>
                <a:latin typeface="Calibri"/>
              </a:rPr>
              <a:t>de desarrolladores ya usa o planea usar IA en su trabajo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2" y="6190486"/>
            <a:ext cx="44668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F645B"/>
                </a:solidFill>
                <a:latin typeface="Calibri"/>
              </a:rPr>
              <a:t>Fuente: Stack Overflow Developer Survey 2025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77356" y="4489703"/>
            <a:ext cx="5061204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77356" y="4489703"/>
            <a:ext cx="118872" cy="2084831"/>
          </a:xfrm>
          <a:prstGeom prst="rect">
            <a:avLst/>
          </a:prstGeom>
          <a:solidFill>
            <a:srgbClr val="3A6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4828" y="4636007"/>
            <a:ext cx="446684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3A6B7E"/>
                </a:solidFill>
                <a:latin typeface="Calibri"/>
              </a:rPr>
              <a:t>59%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4828" y="5422391"/>
            <a:ext cx="4466844" cy="7132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2B2B"/>
                </a:solidFill>
                <a:latin typeface="Calibri"/>
              </a:rPr>
              <a:t>de diseñadores y desarrolladores ya usa IA en su flujo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4828" y="6190486"/>
            <a:ext cx="44668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F645B"/>
                </a:solidFill>
                <a:latin typeface="Calibri"/>
              </a:rPr>
              <a:t>Fuente: Figma, AI Design Report 2024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A DÓNDE LLEGAMOS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Tu primera app: Ruta del Café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34856" y="1819655"/>
            <a:ext cx="2053369" cy="43159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2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uta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1874519"/>
            <a:ext cx="1943642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66760" y="6208775"/>
            <a:ext cx="358956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6D2E46"/>
                </a:solidFill>
                <a:latin typeface="Calibri"/>
              </a:rPr>
              <a:t>Pantalla principal: tarjetas y filtro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286000"/>
            <a:ext cx="7680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200">
                <a:solidFill>
                  <a:srgbClr val="2B2B2B"/>
                </a:solidFill>
                <a:latin typeface="Calibri"/>
              </a:rPr>
              <a:t>•  Con un solo prompt inicial detallado obtienes una app así</a:t>
            </a:r>
          </a:p>
          <a:p>
            <a:pPr>
              <a:spcAft>
                <a:spcPts val="1500"/>
              </a:spcAft>
            </a:pPr>
            <a:r>
              <a:rPr sz="2200">
                <a:solidFill>
                  <a:srgbClr val="2B2B2B"/>
                </a:solidFill>
                <a:latin typeface="Calibri"/>
              </a:rPr>
              <a:t>•  Encabezado, filtro por categoría y tarjetas (cards)</a:t>
            </a:r>
          </a:p>
          <a:p>
            <a:pPr>
              <a:spcAft>
                <a:spcPts val="1500"/>
              </a:spcAft>
            </a:pPr>
            <a:r>
              <a:rPr sz="2200">
                <a:solidFill>
                  <a:srgbClr val="2B2B2B"/>
                </a:solidFill>
                <a:latin typeface="Calibri"/>
              </a:rPr>
              <a:t>•  Cada tarjeta: imagen, nombre, zona y categoría</a:t>
            </a:r>
          </a:p>
          <a:p>
            <a:pPr>
              <a:spcAft>
                <a:spcPts val="1500"/>
              </a:spcAft>
            </a:pPr>
            <a:r>
              <a:rPr sz="2200">
                <a:solidFill>
                  <a:srgbClr val="2B2B2B"/>
                </a:solidFill>
                <a:latin typeface="Calibri"/>
              </a:rPr>
              <a:t>•  Hoy la construyes y aplicas tu primer refinamiento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META Y RESULTADO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Ruta del Café: la meta y el resultado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011680"/>
            <a:ext cx="5349240" cy="658368"/>
          </a:xfrm>
          <a:prstGeom prst="roundRect">
            <a:avLst/>
          </a:prstGeom>
          <a:solidFill>
            <a:srgbClr val="3A6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8463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 · Esto vamos a construir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FDF6EC"/>
                </a:solidFill>
                <a:latin typeface="Calibri"/>
              </a:rPr>
              <a:t>Mock-up de referencia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05586" y="2788920"/>
            <a:ext cx="1654803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2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uta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306" y="2834640"/>
            <a:ext cx="1563363" cy="3383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6263640"/>
            <a:ext cx="5349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6D2E46"/>
                </a:solidFill>
                <a:latin typeface="Calibri"/>
              </a:rPr>
              <a:t>El mock-up de referencia (la guía)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73368" y="2011680"/>
            <a:ext cx="5349240" cy="658368"/>
          </a:xfrm>
          <a:prstGeom prst="round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8463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 · Así quedó, generado por la IA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FDF6EC"/>
                </a:solidFill>
                <a:latin typeface="Calibri"/>
              </a:rPr>
              <a:t>Captura real de la 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7648" y="3011980"/>
            <a:ext cx="5440680" cy="302859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2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uta-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3057700"/>
            <a:ext cx="5349240" cy="293715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73368" y="6263640"/>
            <a:ext cx="5349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6D2E46"/>
                </a:solidFill>
                <a:latin typeface="Calibri"/>
              </a:rPr>
              <a:t>La app generada por la IA en AI Studio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640080"/>
            <a:ext cx="10908792" cy="5577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201168" cy="5577840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9601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C84B31"/>
                </a:solidFill>
                <a:latin typeface="Calibri"/>
              </a:rPr>
              <a:t>LABORATORIO DE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4630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6D2E46"/>
                </a:solidFill>
                <a:latin typeface="Calibri"/>
              </a:rPr>
              <a:t>Laboratorio 1 — Tu primera app en AI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06040"/>
            <a:ext cx="9875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Crea una app nueva en AI Studio (modo Build)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Pega el prompt inicial de "Ruta del Café"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Verifica el encabezado y las tarjetas de cafeterías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Crea un checkpoint y aplica el refinamiento de colores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Usa View diff para ver el cambio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6D2E46"/>
                </a:solidFill>
                <a:latin typeface="Calibri"/>
              </a:rPr>
              <a:t>Lo que nos llevamos y la tarea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5257800" cy="4160520"/>
          </a:xfrm>
          <a:prstGeom prst="roundRect">
            <a:avLst/>
          </a:prstGeom>
          <a:solidFill>
            <a:srgbClr val="F6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4F772D"/>
                </a:solidFill>
                <a:latin typeface="Calibri"/>
              </a:rPr>
              <a:t>En resumen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2B2B2B"/>
                </a:solidFill>
                <a:latin typeface="Calibri"/>
              </a:rPr>
              <a:t>•  Construimos software dirigiendo a la IA en español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B2B2B"/>
                </a:solidFill>
                <a:latin typeface="Calibri"/>
              </a:rPr>
              <a:t>•  Un buen prompt inicial ahorra muchos refinamientos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B2B2B"/>
                </a:solidFill>
                <a:latin typeface="Calibri"/>
              </a:rPr>
              <a:t>•  Checkpoints, View diff y la regla de los 2 strikes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148840"/>
            <a:ext cx="5120640" cy="4160520"/>
          </a:xfrm>
          <a:prstGeom prst="roundRect">
            <a:avLst/>
          </a:prstGeom>
          <a:solidFill>
            <a:srgbClr val="F6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3774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C84B31"/>
                </a:solidFill>
                <a:latin typeface="Calibri"/>
              </a:rPr>
              <a:t>Para la próxima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926080"/>
            <a:ext cx="4572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2B2B2B"/>
                </a:solidFill>
                <a:latin typeface="Calibri"/>
              </a:rPr>
              <a:t>•  Tarea 1: investigación sobre principios de UI/UX móvil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B2B2B"/>
                </a:solidFill>
                <a:latin typeface="Calibri"/>
              </a:rPr>
              <a:t>•  Laboratorio 1: tu primera app con un refinamiento aplicado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B2B2B"/>
                </a:solidFill>
                <a:latin typeface="Calibri"/>
              </a:rPr>
              <a:t>•  Guarda tus prompts en un documento desde hoy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