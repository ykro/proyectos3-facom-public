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09728" cy="6858000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3444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C84B31"/>
                </a:solidFill>
                <a:latin typeface="Calibri"/>
              </a:rPr>
              <a:t>SESIÓN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10607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200" b="1">
                <a:solidFill>
                  <a:srgbClr val="6D2E46"/>
                </a:solidFill>
                <a:latin typeface="Calibri"/>
              </a:rPr>
              <a:t>Desarrollo nativo III: pulido y capacidades del teléfono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" y="4343400"/>
            <a:ext cx="2194560" cy="82296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66344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2B2B2B"/>
                </a:solidFill>
                <a:latin typeface="Calibri"/>
              </a:rPr>
              <a:t>Proyectos III — Diseño de aplicaciones móviles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21208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F645B"/>
                </a:solidFill>
                <a:latin typeface="Calibri"/>
              </a:rPr>
              <a:t>Licenciatura en Comunicación y Diseño · Universidad Galileo · Docente: Adrián Catalán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SESIÓN DE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600">
                <a:solidFill>
                  <a:srgbClr val="2B2B2B"/>
                </a:solidFill>
                <a:latin typeface="Calibri"/>
              </a:rPr>
              <a:t>●  Repaso de la sesión 6</a:t>
            </a:r>
          </a:p>
          <a:p>
            <a:pPr>
              <a:spcAft>
                <a:spcPts val="1600"/>
              </a:spcAft>
            </a:pPr>
            <a:r>
              <a:rPr sz="2600">
                <a:solidFill>
                  <a:srgbClr val="2B2B2B"/>
                </a:solidFill>
                <a:latin typeface="Calibri"/>
              </a:rPr>
              <a:t>●  Capacidades del teléfono</a:t>
            </a:r>
          </a:p>
          <a:p>
            <a:pPr>
              <a:spcAft>
                <a:spcPts val="1600"/>
              </a:spcAft>
            </a:pPr>
            <a:r>
              <a:rPr sz="2600">
                <a:solidFill>
                  <a:srgbClr val="2B2B2B"/>
                </a:solidFill>
                <a:latin typeface="Calibri"/>
              </a:rPr>
              <a:t>●  Cámara y permisos</a:t>
            </a:r>
          </a:p>
          <a:p>
            <a:pPr>
              <a:spcAft>
                <a:spcPts val="1600"/>
              </a:spcAft>
            </a:pPr>
            <a:r>
              <a:rPr sz="2600">
                <a:solidFill>
                  <a:srgbClr val="2B2B2B"/>
                </a:solidFill>
                <a:latin typeface="Calibri"/>
              </a:rPr>
              <a:t>●  Depurar con evidencia</a:t>
            </a:r>
          </a:p>
          <a:p>
            <a:pPr>
              <a:spcAft>
                <a:spcPts val="1600"/>
              </a:spcAft>
            </a:pPr>
            <a:r>
              <a:rPr sz="2600">
                <a:solidFill>
                  <a:srgbClr val="2B2B2B"/>
                </a:solidFill>
                <a:latin typeface="Calibri"/>
              </a:rPr>
              <a:t>●  Pulido de marca</a:t>
            </a:r>
          </a:p>
          <a:p>
            <a:pPr>
              <a:spcAft>
                <a:spcPts val="1600"/>
              </a:spcAft>
            </a:pPr>
            <a:r>
              <a:rPr sz="2600">
                <a:solidFill>
                  <a:srgbClr val="2B2B2B"/>
                </a:solidFill>
                <a:latin typeface="Calibri"/>
              </a:rPr>
              <a:t>●  Laboratorio 6 y cierre del desarrollo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LO QUE SOLO LO NATIVO DA BIEN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Capacidades del teléfono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031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Cámara, notificaciones, ubicación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Hoy nos enfocamos en la cámara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Es la diferencia visible frente a una web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Mejora la experiencia y el valor del producto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UX DE CONFIANZA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Cámara y permisos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031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Las funciones sensibles requieren pedir permiso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Mensaje claro en español: para qué se usa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La foto tomada se sube a Storage igual que las demás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Si el usuario niega, deja disponible elegir desde la galería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HERRAMIENTAS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Depurar con evidencia, no a ciegas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031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Toma capturas de la vista previa del navegador (o del teléfono)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Modo de anotación: haz clic sobre el elemento y describe el ajuste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Le pasas esa evidencia a la IA para corregir con precisión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Apóyate también en View diff y la pestaña Code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DE EJERCICIO A PRODUCTO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Pulido de marca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031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Ícono de app propio con tu color de marca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Splash screen al abrir la app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Color de marca consistente en barras y botones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Puedes generar el ícono aparte con Nano Banana (playground) y usarlo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7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DEMO DEL DOCENTE ·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Foto del Día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2148840"/>
            <a:ext cx="6583680" cy="566928"/>
          </a:xfrm>
          <a:prstGeom prst="roundRect">
            <a:avLst/>
          </a:prstGeom>
          <a:solidFill>
            <a:srgbClr val="F6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240280"/>
            <a:ext cx="6035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6D2E46"/>
                </a:solidFill>
                <a:latin typeface="Calibri"/>
              </a:rPr>
              <a:t>El docente la construye en vivo — no es tu entrega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71800"/>
            <a:ext cx="6583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B2B2B"/>
                </a:solidFill>
                <a:latin typeface="Calibri"/>
              </a:rPr>
              <a:t>•  Una foto al día, app nativa cámara-first de Android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B2B2B"/>
                </a:solidFill>
                <a:latin typeface="Calibri"/>
              </a:rPr>
              <a:t>•  Ilustra permisos de cámara, subida a Storage y pulido de marca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B2B2B"/>
                </a:solidFill>
                <a:latin typeface="Calibri"/>
              </a:rPr>
              <a:t>•  El docente toma una foto en vivo y la ve aparecer en la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257800"/>
            <a:ext cx="6583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F645B"/>
                </a:solidFill>
                <a:latin typeface="Calibri"/>
              </a:rPr>
              <a:t>Ilustra el concepto del día con una app distinta. Tu laboratorio sigue en la app insignia y en tu propia idea.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50307" y="2057400"/>
            <a:ext cx="2193225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2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emo-f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6027" y="2103120"/>
            <a:ext cx="2101785" cy="4297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6D2E46"/>
                </a:solidFill>
                <a:latin typeface="Calibri"/>
              </a:rPr>
              <a:t>Captura real de la demo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7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EL RECORRIDO DE UNA FOTO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De la cámara a la bitácora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3017520"/>
            <a:ext cx="227457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017520"/>
            <a:ext cx="2274570" cy="128016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474720"/>
            <a:ext cx="200025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6D2E46"/>
                </a:solidFill>
                <a:latin typeface="Calibri"/>
              </a:rPr>
              <a:t>Cámara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F645B"/>
                </a:solidFill>
                <a:latin typeface="Calibri"/>
              </a:rPr>
              <a:t>pide permiso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52394" y="3776472"/>
            <a:ext cx="393192" cy="402336"/>
          </a:xfrm>
          <a:prstGeom prst="rightArrow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00450" y="3017520"/>
            <a:ext cx="227457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00450" y="3017520"/>
            <a:ext cx="2274570" cy="128016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7610" y="3474720"/>
            <a:ext cx="200025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6D2E46"/>
                </a:solidFill>
                <a:latin typeface="Calibri"/>
              </a:rPr>
              <a:t>Foto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F645B"/>
                </a:solidFill>
                <a:latin typeface="Calibri"/>
              </a:rPr>
              <a:t>tomada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29884" y="3776472"/>
            <a:ext cx="393192" cy="402336"/>
          </a:xfrm>
          <a:prstGeom prst="rightArrow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77940" y="3017520"/>
            <a:ext cx="227457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77940" y="3017520"/>
            <a:ext cx="2274570" cy="128016"/>
          </a:xfrm>
          <a:prstGeom prst="rect">
            <a:avLst/>
          </a:prstGeom>
          <a:solidFill>
            <a:srgbClr val="4F7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5100" y="3474720"/>
            <a:ext cx="200025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6D2E46"/>
                </a:solidFill>
                <a:latin typeface="Calibri"/>
              </a:rPr>
              <a:t>Storage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F645B"/>
                </a:solidFill>
                <a:latin typeface="Calibri"/>
              </a:rPr>
              <a:t>sube el archivo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07374" y="3776472"/>
            <a:ext cx="393192" cy="402336"/>
          </a:xfrm>
          <a:prstGeom prst="rightArrow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55430" y="3017520"/>
            <a:ext cx="227457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55430" y="3017520"/>
            <a:ext cx="2274570" cy="128016"/>
          </a:xfrm>
          <a:prstGeom prst="rect">
            <a:avLst/>
          </a:prstGeom>
          <a:solidFill>
            <a:srgbClr val="3A6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2590" y="3474720"/>
            <a:ext cx="200025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6D2E46"/>
                </a:solidFill>
                <a:latin typeface="Calibri"/>
              </a:rPr>
              <a:t>Bitácora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F645B"/>
                </a:solidFill>
                <a:latin typeface="Calibri"/>
              </a:rPr>
              <a:t>aparece sola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39496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En Firestore se guarda la dirección de la foto (imagenUrl); la imagen vive en Storage. La entrada nueva aparece en la cuadrícula sin recargar.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EN PANTALLA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Capturar con la cámara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34856" y="1819655"/>
            <a:ext cx="2053369" cy="43159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2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itacora-cap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1874519"/>
            <a:ext cx="1943642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66760" y="6208775"/>
            <a:ext cx="358956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6D2E46"/>
                </a:solidFill>
                <a:latin typeface="Calibri"/>
              </a:rPr>
              <a:t>Nueva entrada: foto + nota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86000"/>
            <a:ext cx="7680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200">
                <a:solidFill>
                  <a:srgbClr val="2B2B2B"/>
                </a:solidFill>
                <a:latin typeface="Calibri"/>
              </a:rPr>
              <a:t>•  La cámara pide permiso con un mensaje claro en español</a:t>
            </a:r>
          </a:p>
          <a:p>
            <a:pPr>
              <a:spcAft>
                <a:spcPts val="1500"/>
              </a:spcAft>
            </a:pPr>
            <a:r>
              <a:rPr sz="2200">
                <a:solidFill>
                  <a:srgbClr val="2B2B2B"/>
                </a:solidFill>
                <a:latin typeface="Calibri"/>
              </a:rPr>
              <a:t>•  La foto tomada encabeza la nueva entrada</a:t>
            </a:r>
          </a:p>
          <a:p>
            <a:pPr>
              <a:spcAft>
                <a:spcPts val="1500"/>
              </a:spcAft>
            </a:pPr>
            <a:r>
              <a:rPr sz="2200">
                <a:solidFill>
                  <a:srgbClr val="2B2B2B"/>
                </a:solidFill>
                <a:latin typeface="Calibri"/>
              </a:rPr>
              <a:t>•  Título y nota acompañan la imagen</a:t>
            </a:r>
          </a:p>
          <a:p>
            <a:pPr>
              <a:spcAft>
                <a:spcPts val="1500"/>
              </a:spcAft>
            </a:pPr>
            <a:r>
              <a:rPr sz="2200">
                <a:solidFill>
                  <a:srgbClr val="2B2B2B"/>
                </a:solidFill>
                <a:latin typeface="Calibri"/>
              </a:rPr>
              <a:t>•  Al guardar, sube a Storage y aparece en la bitácora</a:t>
            </a:r>
          </a:p>
          <a:p>
            <a:pPr>
              <a:spcAft>
                <a:spcPts val="1500"/>
              </a:spcAft>
            </a:pPr>
            <a:r>
              <a:rPr sz="2200">
                <a:solidFill>
                  <a:srgbClr val="2B2B2B"/>
                </a:solidFill>
                <a:latin typeface="Calibri"/>
              </a:rPr>
              <a:t>•  Ícono y splash con tu marca la vuelven un producto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META Y RESULTADO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Bitácora Visual pulida: mock-up y app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011680"/>
            <a:ext cx="5349240" cy="658368"/>
          </a:xfrm>
          <a:prstGeom prst="roundRect">
            <a:avLst/>
          </a:prstGeom>
          <a:solidFill>
            <a:srgbClr val="3A6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463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 · Esto vamos a construir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FDF6EC"/>
                </a:solidFill>
                <a:latin typeface="Calibri"/>
              </a:rPr>
              <a:t>Mock-up de referencia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5586" y="2788920"/>
            <a:ext cx="1654803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2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itacora-cap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306" y="2834640"/>
            <a:ext cx="1563363" cy="3383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6263640"/>
            <a:ext cx="5349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6D2E46"/>
                </a:solidFill>
                <a:latin typeface="Calibri"/>
              </a:rPr>
              <a:t>El mock-up de captura (referencia)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73368" y="2011680"/>
            <a:ext cx="5349240" cy="658368"/>
          </a:xfrm>
          <a:prstGeom prst="round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8463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 · Así quedó, generado por la IA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FDF6EC"/>
                </a:solidFill>
                <a:latin typeface="Calibri"/>
              </a:rPr>
              <a:t>Captura real de la 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74970" y="2788920"/>
            <a:ext cx="1746036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2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itacora-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0690" y="2834640"/>
            <a:ext cx="1654596" cy="33832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73368" y="6263640"/>
            <a:ext cx="5349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6D2E46"/>
                </a:solidFill>
                <a:latin typeface="Calibri"/>
              </a:rPr>
              <a:t>La app nativa pulida, ya un producto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640080"/>
            <a:ext cx="10908792" cy="5577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201168" cy="5577840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9601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C84B31"/>
                </a:solidFill>
                <a:latin typeface="Calibri"/>
              </a:rPr>
              <a:t>LABORATORIO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4630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6D2E46"/>
                </a:solidFill>
                <a:latin typeface="Calibri"/>
              </a:rPr>
              <a:t>Laboratorio 6 — App nativa con cámara, pulida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06040"/>
            <a:ext cx="9875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Agrega "Tomar foto" con la cámara (con permiso)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Verifica que la foto tomada sube a Storage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Diagnostica con capturas de la vista previa y el modo de anotación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Pule el ícono y el splash con tu marca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Toma una captura final para tu portafolio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6D2E46"/>
                </a:solidFill>
                <a:latin typeface="Calibri"/>
              </a:rPr>
              <a:t>Lo que nos llevamos y la tarea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5257800" cy="4160520"/>
          </a:xfrm>
          <a:prstGeom prst="roundRect">
            <a:avLst/>
          </a:prstGeom>
          <a:solidFill>
            <a:srgbClr val="F6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4F772D"/>
                </a:solidFill>
                <a:latin typeface="Calibri"/>
              </a:rPr>
              <a:t>En resumen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La cámara requiere permiso con un mensaje claro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Depura con capturas de la vista previa y anotación, no a ciegas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Ícono y splash convierten el ejercicio en producto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148840"/>
            <a:ext cx="5120640" cy="4160520"/>
          </a:xfrm>
          <a:prstGeom prst="roundRect">
            <a:avLst/>
          </a:prstGeom>
          <a:solidFill>
            <a:srgbClr val="F6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3774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C84B31"/>
                </a:solidFill>
                <a:latin typeface="Calibri"/>
              </a:rPr>
              <a:t>Para la próxima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92608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Laboratorio 6: app nativa pulida con una capacidad del teléfono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Reúne capturas y notas para tu portafolio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Sesión 10: Examen Final escrito en línea + Demo Day (entrega del Proyecto Final)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